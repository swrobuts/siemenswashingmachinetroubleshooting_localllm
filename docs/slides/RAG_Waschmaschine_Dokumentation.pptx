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e58ded8c73249ac" /><Relationship Type="http://schemas.openxmlformats.org/officeDocument/2006/relationships/extended-properties" Target="/docProps/app.xml" Id="R00bcdab5264940fa" /><Relationship Type="http://schemas.openxmlformats.org/officeDocument/2006/relationships/officeDocument" Target="/ppt/presentation.xml" Id="R8902111446ef41dc" /></Relationships>
</file>

<file path=ppt/presentation.xml><?xml version="1.0" encoding="utf-8"?>
<p:presentation xmlns:p="http://schemas.openxmlformats.org/presentationml/2006/main">
  <p:sldMasterIdLst>
    <p:sldMasterId xmlns:r="http://schemas.openxmlformats.org/officeDocument/2006/relationships" id="2147483648" r:id="Rb63713da5a4c42bf"/>
  </p:sldMasterIdLst>
  <p:notesMasterIdLst>
    <p:notesMasterId xmlns:r="http://schemas.openxmlformats.org/officeDocument/2006/relationships" r:id="R364ba209389b46fc"/>
  </p:notesMasterIdLst>
  <p:sldIdLst>
    <p:sldId xmlns:r="http://schemas.openxmlformats.org/officeDocument/2006/relationships" id="256" r:id="R742ff5c6fa98407c"/>
    <p:sldId xmlns:r="http://schemas.openxmlformats.org/officeDocument/2006/relationships" id="257" r:id="R02f3511fea464546"/>
    <p:sldId xmlns:r="http://schemas.openxmlformats.org/officeDocument/2006/relationships" id="258" r:id="Rf02d969c88dd4b9f"/>
    <p:sldId xmlns:r="http://schemas.openxmlformats.org/officeDocument/2006/relationships" id="259" r:id="Rd3203c0bad874d94"/>
    <p:sldId xmlns:r="http://schemas.openxmlformats.org/officeDocument/2006/relationships" id="260" r:id="R83810adadd834756"/>
    <p:sldId xmlns:r="http://schemas.openxmlformats.org/officeDocument/2006/relationships" id="261" r:id="R798c02e894934e59"/>
    <p:sldId xmlns:r="http://schemas.openxmlformats.org/officeDocument/2006/relationships" id="262" r:id="R3338a696ba3d4c2e"/>
    <p:sldId xmlns:r="http://schemas.openxmlformats.org/officeDocument/2006/relationships" id="263" r:id="R99da003dc1c946de"/>
    <p:sldId xmlns:r="http://schemas.openxmlformats.org/officeDocument/2006/relationships" id="264" r:id="Rafc8accf666548ff"/>
    <p:sldId xmlns:r="http://schemas.openxmlformats.org/officeDocument/2006/relationships" id="265" r:id="R500f06459f474966"/>
    <p:sldId xmlns:r="http://schemas.openxmlformats.org/officeDocument/2006/relationships" id="266" r:id="R24717866869b470f"/>
    <p:sldId xmlns:r="http://schemas.openxmlformats.org/officeDocument/2006/relationships" id="267" r:id="R5489fd5ac8ba4705"/>
    <p:sldId xmlns:r="http://schemas.openxmlformats.org/officeDocument/2006/relationships" id="268" r:id="R9b35964a4f844b40"/>
    <p:sldId xmlns:r="http://schemas.openxmlformats.org/officeDocument/2006/relationships" id="269" r:id="Rf414cc5a5aca49b0"/>
    <p:sldId xmlns:r="http://schemas.openxmlformats.org/officeDocument/2006/relationships" id="270" r:id="R52df0e3acb6541cf"/>
    <p:sldId xmlns:r="http://schemas.openxmlformats.org/officeDocument/2006/relationships" id="271" r:id="R942556d33ef4406f"/>
    <p:sldId xmlns:r="http://schemas.openxmlformats.org/officeDocument/2006/relationships" id="272" r:id="Rd0c816bdb0844aca"/>
    <p:sldId xmlns:r="http://schemas.openxmlformats.org/officeDocument/2006/relationships" id="273" r:id="R69f5db17e1634c39"/>
    <p:sldId xmlns:r="http://schemas.openxmlformats.org/officeDocument/2006/relationships" id="274" r:id="R0bc1af8da0a846be"/>
    <p:sldId xmlns:r="http://schemas.openxmlformats.org/officeDocument/2006/relationships" id="275" r:id="Rcf5df85c85834405"/>
    <p:sldId xmlns:r="http://schemas.openxmlformats.org/officeDocument/2006/relationships" id="276" r:id="R728fa32c93d64790"/>
    <p:sldId xmlns:r="http://schemas.openxmlformats.org/officeDocument/2006/relationships" id="277" r:id="R7c3b457516424c92"/>
    <p:sldId xmlns:r="http://schemas.openxmlformats.org/officeDocument/2006/relationships" id="278" r:id="R74971a6705484410"/>
    <p:sldId xmlns:r="http://schemas.openxmlformats.org/officeDocument/2006/relationships" id="279" r:id="Rf25351ea6a2243b2"/>
    <p:sldId xmlns:r="http://schemas.openxmlformats.org/officeDocument/2006/relationships" id="280" r:id="Rbf41d80cb19c4335"/>
    <p:sldId xmlns:r="http://schemas.openxmlformats.org/officeDocument/2006/relationships" id="281" r:id="R54a4f939fcda43fa"/>
    <p:sldId xmlns:r="http://schemas.openxmlformats.org/officeDocument/2006/relationships" id="282" r:id="R9d4008515d72448a"/>
    <p:sldId xmlns:r="http://schemas.openxmlformats.org/officeDocument/2006/relationships" id="283" r:id="Rc69ba797620b4a90"/>
    <p:sldId xmlns:r="http://schemas.openxmlformats.org/officeDocument/2006/relationships" id="284" r:id="R93e6ef44625140f3"/>
    <p:sldId xmlns:r="http://schemas.openxmlformats.org/officeDocument/2006/relationships" id="285" r:id="R48fe80b4698146ab"/>
    <p:sldId xmlns:r="http://schemas.openxmlformats.org/officeDocument/2006/relationships" id="286" r:id="R7bfb580752854b70"/>
    <p:sldId xmlns:r="http://schemas.openxmlformats.org/officeDocument/2006/relationships" id="287" r:id="Rcdbdca0af1fb490f"/>
    <p:sldId xmlns:r="http://schemas.openxmlformats.org/officeDocument/2006/relationships" id="288" r:id="R2990e2a9b9e4427a"/>
    <p:sldId xmlns:r="http://schemas.openxmlformats.org/officeDocument/2006/relationships" id="289" r:id="R2867326114e84371"/>
    <p:sldId xmlns:r="http://schemas.openxmlformats.org/officeDocument/2006/relationships" id="290" r:id="Rb9066b05e2ee4017"/>
    <p:sldId xmlns:r="http://schemas.openxmlformats.org/officeDocument/2006/relationships" id="291" r:id="Rbdf8b87c6e964b57"/>
    <p:sldId xmlns:r="http://schemas.openxmlformats.org/officeDocument/2006/relationships" id="292" r:id="R991f2b502c5543a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42f3da6443b43fe" /><Relationship Type="http://schemas.openxmlformats.org/officeDocument/2006/relationships/slideMaster" Target="/ppt/slideMasters/slideMaster1.xml" Id="Rb63713da5a4c42bf" /><Relationship Type="http://schemas.openxmlformats.org/officeDocument/2006/relationships/notesMaster" Target="/ppt/notesMasters/notesMaster1.xml" Id="R364ba209389b46fc" /><Relationship Type="http://schemas.openxmlformats.org/officeDocument/2006/relationships/presProps" Target="/ppt/presProps.xml" Id="R147ab86b85fb4b64" /><Relationship Type="http://schemas.openxmlformats.org/officeDocument/2006/relationships/tableStyles" Target="/ppt/tableStyles.xml" Id="Rdb9ad8cffd5848f2" /><Relationship Type="http://schemas.openxmlformats.org/officeDocument/2006/relationships/slide" Target="/ppt/slides/slide1.xml" Id="R742ff5c6fa98407c" /><Relationship Type="http://schemas.openxmlformats.org/officeDocument/2006/relationships/slide" Target="/ppt/slides/slide2.xml" Id="R02f3511fea464546" /><Relationship Type="http://schemas.openxmlformats.org/officeDocument/2006/relationships/slide" Target="/ppt/slides/slide3.xml" Id="Rf02d969c88dd4b9f" /><Relationship Type="http://schemas.openxmlformats.org/officeDocument/2006/relationships/slide" Target="/ppt/slides/slide4.xml" Id="Rd3203c0bad874d94" /><Relationship Type="http://schemas.openxmlformats.org/officeDocument/2006/relationships/slide" Target="/ppt/slides/slide5.xml" Id="R83810adadd834756" /><Relationship Type="http://schemas.openxmlformats.org/officeDocument/2006/relationships/slide" Target="/ppt/slides/slide6.xml" Id="R798c02e894934e59" /><Relationship Type="http://schemas.openxmlformats.org/officeDocument/2006/relationships/slide" Target="/ppt/slides/slide7.xml" Id="R3338a696ba3d4c2e" /><Relationship Type="http://schemas.openxmlformats.org/officeDocument/2006/relationships/slide" Target="/ppt/slides/slide8.xml" Id="R99da003dc1c946de" /><Relationship Type="http://schemas.openxmlformats.org/officeDocument/2006/relationships/slide" Target="/ppt/slides/slide9.xml" Id="Rafc8accf666548ff" /><Relationship Type="http://schemas.openxmlformats.org/officeDocument/2006/relationships/slide" Target="/ppt/slides/slide10.xml" Id="R500f06459f474966" /><Relationship Type="http://schemas.openxmlformats.org/officeDocument/2006/relationships/slide" Target="/ppt/slides/slide11.xml" Id="R24717866869b470f" /><Relationship Type="http://schemas.openxmlformats.org/officeDocument/2006/relationships/slide" Target="/ppt/slides/slide12.xml" Id="R5489fd5ac8ba4705" /><Relationship Type="http://schemas.openxmlformats.org/officeDocument/2006/relationships/slide" Target="/ppt/slides/slide13.xml" Id="R9b35964a4f844b40" /><Relationship Type="http://schemas.openxmlformats.org/officeDocument/2006/relationships/slide" Target="/ppt/slides/slide14.xml" Id="Rf414cc5a5aca49b0" /><Relationship Type="http://schemas.openxmlformats.org/officeDocument/2006/relationships/slide" Target="/ppt/slides/slide15.xml" Id="R52df0e3acb6541cf" /><Relationship Type="http://schemas.openxmlformats.org/officeDocument/2006/relationships/slide" Target="/ppt/slides/slide16.xml" Id="R942556d33ef4406f" /><Relationship Type="http://schemas.openxmlformats.org/officeDocument/2006/relationships/slide" Target="/ppt/slides/slide17.xml" Id="Rd0c816bdb0844aca" /><Relationship Type="http://schemas.openxmlformats.org/officeDocument/2006/relationships/slide" Target="/ppt/slides/slide18.xml" Id="R69f5db17e1634c39" /><Relationship Type="http://schemas.openxmlformats.org/officeDocument/2006/relationships/slide" Target="/ppt/slides/slide19.xml" Id="R0bc1af8da0a846be" /><Relationship Type="http://schemas.openxmlformats.org/officeDocument/2006/relationships/slide" Target="/ppt/slides/slide20.xml" Id="Rcf5df85c85834405" /><Relationship Type="http://schemas.openxmlformats.org/officeDocument/2006/relationships/slide" Target="/ppt/slides/slide21.xml" Id="R728fa32c93d64790" /><Relationship Type="http://schemas.openxmlformats.org/officeDocument/2006/relationships/slide" Target="/ppt/slides/slide22.xml" Id="R7c3b457516424c92" /><Relationship Type="http://schemas.openxmlformats.org/officeDocument/2006/relationships/slide" Target="/ppt/slides/slide23.xml" Id="R74971a6705484410" /><Relationship Type="http://schemas.openxmlformats.org/officeDocument/2006/relationships/slide" Target="/ppt/slides/slide24.xml" Id="Rf25351ea6a2243b2" /><Relationship Type="http://schemas.openxmlformats.org/officeDocument/2006/relationships/slide" Target="/ppt/slides/slide25.xml" Id="Rbf41d80cb19c4335" /><Relationship Type="http://schemas.openxmlformats.org/officeDocument/2006/relationships/slide" Target="/ppt/slides/slide26.xml" Id="R54a4f939fcda43fa" /><Relationship Type="http://schemas.openxmlformats.org/officeDocument/2006/relationships/slide" Target="/ppt/slides/slide27.xml" Id="R9d4008515d72448a" /><Relationship Type="http://schemas.openxmlformats.org/officeDocument/2006/relationships/slide" Target="/ppt/slides/slide28.xml" Id="Rc69ba797620b4a90" /><Relationship Type="http://schemas.openxmlformats.org/officeDocument/2006/relationships/slide" Target="/ppt/slides/slide29.xml" Id="R93e6ef44625140f3" /><Relationship Type="http://schemas.openxmlformats.org/officeDocument/2006/relationships/slide" Target="/ppt/slides/slide30.xml" Id="R48fe80b4698146ab" /><Relationship Type="http://schemas.openxmlformats.org/officeDocument/2006/relationships/slide" Target="/ppt/slides/slide31.xml" Id="R7bfb580752854b70" /><Relationship Type="http://schemas.openxmlformats.org/officeDocument/2006/relationships/slide" Target="/ppt/slides/slide32.xml" Id="Rcdbdca0af1fb490f" /><Relationship Type="http://schemas.openxmlformats.org/officeDocument/2006/relationships/slide" Target="/ppt/slides/slide33.xml" Id="R2990e2a9b9e4427a" /><Relationship Type="http://schemas.openxmlformats.org/officeDocument/2006/relationships/slide" Target="/ppt/slides/slide34.xml" Id="R2867326114e84371" /><Relationship Type="http://schemas.openxmlformats.org/officeDocument/2006/relationships/slide" Target="/ppt/slides/slide35.xml" Id="Rb9066b05e2ee4017" /><Relationship Type="http://schemas.openxmlformats.org/officeDocument/2006/relationships/slide" Target="/ppt/slides/slide36.xml" Id="Rbdf8b87c6e964b57" /><Relationship Type="http://schemas.openxmlformats.org/officeDocument/2006/relationships/slide" Target="/ppt/slides/slide37.xml" Id="R991f2b502c5543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172ba0477c46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85b9248a5f4a9b" /><Relationship Type="http://schemas.openxmlformats.org/officeDocument/2006/relationships/notesMaster" Target="/ppt/notesMasters/notesMaster1.xml" Id="R7877f059e2394b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49216b344e45f9" /><Relationship Type="http://schemas.openxmlformats.org/officeDocument/2006/relationships/notesMaster" Target="/ppt/notesMasters/notesMaster1.xml" Id="R5e4076eb9c2c43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84bd9d6898f4652" /><Relationship Type="http://schemas.openxmlformats.org/officeDocument/2006/relationships/notesMaster" Target="/ppt/notesMasters/notesMaster1.xml" Id="R9324d3b9202f4d9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521a7c862474b99" /><Relationship Type="http://schemas.openxmlformats.org/officeDocument/2006/relationships/notesMaster" Target="/ppt/notesMasters/notesMaster1.xml" Id="R5036c06023dd4e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3dfe48f78ed481f" /><Relationship Type="http://schemas.openxmlformats.org/officeDocument/2006/relationships/notesMaster" Target="/ppt/notesMasters/notesMaster1.xml" Id="R5f9e422efc50407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9e2bc8c34404059" /><Relationship Type="http://schemas.openxmlformats.org/officeDocument/2006/relationships/notesMaster" Target="/ppt/notesMasters/notesMaster1.xml" Id="R72e2055dd1d244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3b71a8967f4713" /><Relationship Type="http://schemas.openxmlformats.org/officeDocument/2006/relationships/notesMaster" Target="/ppt/notesMasters/notesMaster1.xml" Id="Rfb5e75d060fc426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484658c5a2f4487" /><Relationship Type="http://schemas.openxmlformats.org/officeDocument/2006/relationships/notesMaster" Target="/ppt/notesMasters/notesMaster1.xml" Id="Ra12998fb1b7f43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c2be89a26f4dbe" /><Relationship Type="http://schemas.openxmlformats.org/officeDocument/2006/relationships/notesMaster" Target="/ppt/notesMasters/notesMaster1.xml" Id="Rfabb56a2f2bd4f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0aee5814224439a" /><Relationship Type="http://schemas.openxmlformats.org/officeDocument/2006/relationships/notesMaster" Target="/ppt/notesMasters/notesMaster1.xml" Id="Rf11a65071e67407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0f37fcf03b243af" /><Relationship Type="http://schemas.openxmlformats.org/officeDocument/2006/relationships/notesMaster" Target="/ppt/notesMasters/notesMaster1.xml" Id="R1622e4cdec504f9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2199970a26f4119" /><Relationship Type="http://schemas.openxmlformats.org/officeDocument/2006/relationships/notesMaster" Target="/ppt/notesMasters/notesMaster1.xml" Id="Ra6a18f23d8a54e4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a7527a6bd5144f0" /><Relationship Type="http://schemas.openxmlformats.org/officeDocument/2006/relationships/notesMaster" Target="/ppt/notesMasters/notesMaster1.xml" Id="Re1adbc72299443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0d3300ae8b44380" /><Relationship Type="http://schemas.openxmlformats.org/officeDocument/2006/relationships/notesMaster" Target="/ppt/notesMasters/notesMaster1.xml" Id="Rec6d16bdf80047d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1e73b34a3fe41fb" /><Relationship Type="http://schemas.openxmlformats.org/officeDocument/2006/relationships/notesMaster" Target="/ppt/notesMasters/notesMaster1.xml" Id="R6cc5058ea9f3471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3cab340dd164b2d" /><Relationship Type="http://schemas.openxmlformats.org/officeDocument/2006/relationships/notesMaster" Target="/ppt/notesMasters/notesMaster1.xml" Id="R4f0108032684408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b3c107bff9848c8" /><Relationship Type="http://schemas.openxmlformats.org/officeDocument/2006/relationships/notesMaster" Target="/ppt/notesMasters/notesMaster1.xml" Id="R425e53af2a3e410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2618193b0dc4b5a" /><Relationship Type="http://schemas.openxmlformats.org/officeDocument/2006/relationships/notesMaster" Target="/ppt/notesMasters/notesMaster1.xml" Id="Rb4c59d80527348e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921f635c59f447d" /><Relationship Type="http://schemas.openxmlformats.org/officeDocument/2006/relationships/notesMaster" Target="/ppt/notesMasters/notesMaster1.xml" Id="R5314cb716b2e47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bf9786b2dd44586" /><Relationship Type="http://schemas.openxmlformats.org/officeDocument/2006/relationships/notesMaster" Target="/ppt/notesMasters/notesMaster1.xml" Id="R60917d4d4688480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0775565258c47a8" /><Relationship Type="http://schemas.openxmlformats.org/officeDocument/2006/relationships/notesMaster" Target="/ppt/notesMasters/notesMaster1.xml" Id="R215c1a329e164be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cd5ad4290ed40a3" /><Relationship Type="http://schemas.openxmlformats.org/officeDocument/2006/relationships/notesMaster" Target="/ppt/notesMasters/notesMaster1.xml" Id="Rcb7fbeae7f50439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ae74b7d97bd4c17" /><Relationship Type="http://schemas.openxmlformats.org/officeDocument/2006/relationships/notesMaster" Target="/ppt/notesMasters/notesMaster1.xml" Id="R3b1ed955ceac40a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e39f5e247754d93" /><Relationship Type="http://schemas.openxmlformats.org/officeDocument/2006/relationships/notesMaster" Target="/ppt/notesMasters/notesMaster1.xml" Id="Rdff14abbdda14e1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f5289bfbca04e2a" /><Relationship Type="http://schemas.openxmlformats.org/officeDocument/2006/relationships/notesMaster" Target="/ppt/notesMasters/notesMaster1.xml" Id="Rc08aecc6855b489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7fe30162c1d445f" /><Relationship Type="http://schemas.openxmlformats.org/officeDocument/2006/relationships/notesMaster" Target="/ppt/notesMasters/notesMaster1.xml" Id="Rdcc095f9a0d64f2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5aa9167f2ee4b0a" /><Relationship Type="http://schemas.openxmlformats.org/officeDocument/2006/relationships/notesMaster" Target="/ppt/notesMasters/notesMaster1.xml" Id="R5a2451307b054ef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dbc4643f0084505" /><Relationship Type="http://schemas.openxmlformats.org/officeDocument/2006/relationships/notesMaster" Target="/ppt/notesMasters/notesMaster1.xml" Id="Re83d98ffebdf4ab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15bc7eee2074c4e" /><Relationship Type="http://schemas.openxmlformats.org/officeDocument/2006/relationships/notesMaster" Target="/ppt/notesMasters/notesMaster1.xml" Id="R3d5f46144771453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a4fa8fac1894f4f" /><Relationship Type="http://schemas.openxmlformats.org/officeDocument/2006/relationships/notesMaster" Target="/ppt/notesMasters/notesMaster1.xml" Id="Rc84a6eca0029454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2c128462d444df1" /><Relationship Type="http://schemas.openxmlformats.org/officeDocument/2006/relationships/notesMaster" Target="/ppt/notesMasters/notesMaster1.xml" Id="R7db41f421a434f6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875ca3fa2a04071" /><Relationship Type="http://schemas.openxmlformats.org/officeDocument/2006/relationships/notesMaster" Target="/ppt/notesMasters/notesMaster1.xml" Id="R4797d65bd4ee41f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b44ca5267bb4cda" /><Relationship Type="http://schemas.openxmlformats.org/officeDocument/2006/relationships/notesMaster" Target="/ppt/notesMasters/notesMaster1.xml" Id="Rb3bf0875e98d4d5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0889fa7d541423a" /><Relationship Type="http://schemas.openxmlformats.org/officeDocument/2006/relationships/notesMaster" Target="/ppt/notesMasters/notesMaster1.xml" Id="Rcfb7e2e56de346f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f2c50620e4648c5" /><Relationship Type="http://schemas.openxmlformats.org/officeDocument/2006/relationships/notesMaster" Target="/ppt/notesMasters/notesMaster1.xml" Id="R116cbfb5309f451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f25be96780d4a92" /><Relationship Type="http://schemas.openxmlformats.org/officeDocument/2006/relationships/notesMaster" Target="/ppt/notesMasters/notesMaster1.xml" Id="Rc1c9396c83a24eb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369a4f594f5469e" /><Relationship Type="http://schemas.openxmlformats.org/officeDocument/2006/relationships/notesMaster" Target="/ppt/notesMasters/notesMaster1.xml" Id="R96f2ed21a26f41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Dokumentation des geprüften Repositorys. Eine Anwendung mit gemeinsamem Retrieval-Kern und GUI-Umschalter für LM Studio und OpenAI API. Die frühere zweite Projektablage enthielt Konfiguration, keine prüfbare zweite Codebasis.</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Projekt unterstützt zwei Antwortmodelle mit unterschiedlichen Betriebsorten. Beide benutzen lokal dieselben Embeddings und dieselbe Anleitung. PageIndex ist ein alternativer Retrieval-Modus, kein drittes LLM-Projekt.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verbindet ein generatives Modell mit einer externen Wissensquelle. Die konkrete Anwendung nutzt Retrieval zur Laufzeit. Sie trainiert die Gewichte des Antwortmodells nicht neu. RAG ist keine Garantie gegen Halluzinationen.</a:t>
            </a:r>
          </a:p>
          <a:p xmlns:a="http://schemas.openxmlformats.org/drawingml/2006/main">
            <a:r>
              <a:t/>
            </a:r>
          </a:p>
          <a:p xmlns:a="http://schemas.openxmlformats.org/drawingml/2006/main">
            <a:r>
              <a:t>Quellen (Abruf 19.09.2026):</a:t>
            </a:r>
          </a:p>
          <a:p xmlns:a="http://schemas.openxmlformats.org/drawingml/2006/main">
            <a:r>
              <a:t>https://arxiv.org/abs/2005.11401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Vergleich konzeptioneller Muster. Diese Anwendung setzt die mittlere Variante ein. Fine-Tuning kann Verhalten und Stil verbessern, ersetzt aber nicht automatisch einen aktualisierten Quellindex.</a:t>
            </a:r>
          </a:p>
          <a:p xmlns:a="http://schemas.openxmlformats.org/drawingml/2006/main">
            <a:r>
              <a:t/>
            </a:r>
          </a:p>
          <a:p xmlns:a="http://schemas.openxmlformats.org/drawingml/2006/main">
            <a:r>
              <a:t>Quellen (Abruf 19.09.2026):</a:t>
            </a:r>
          </a:p>
          <a:p xmlns:a="http://schemas.openxmlformats.org/drawingml/2006/main">
            <a:r>
              <a:t>https://arxiv.org/abs/2005.11401</a:t>
            </a:r>
          </a:p>
          <a:p xmlns:a="http://schemas.openxmlformats.org/drawingml/2006/main">
            <a:r>
              <a:t>https://arxiv.org/abs/2312.10997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bedeutet hier vorgelagerte Aufbereitung. Der erste Download von Parser-, Embedding- und Reranker-Modellen benötigt Internet. Spätere lokale Verarbeitung kann vorhandene Modellgewichte nutzen.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https://docling-project.github.io/docling/reference/document_converter/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Keine Chroma-, Qdrant-, PostgreSQL- oder Neo4j-Anbindung im überprüften Code. LlamaIndex SimpleVectorStore lädt die Daten zur Suche in den Prozess und kann sie als JSON speichern.</a:t>
            </a:r>
          </a:p>
          <a:p xmlns:a="http://schemas.openxmlformats.org/drawingml/2006/main">
            <a:r>
              <a:t/>
            </a:r>
          </a:p>
          <a:p xmlns:a="http://schemas.openxmlformats.org/drawingml/2006/main">
            <a:r>
              <a:t>Quellen (Abruf 19.09.2026):</a:t>
            </a:r>
          </a:p>
          <a:p xmlns:a="http://schemas.openxmlformats.org/drawingml/2006/main">
            <a:r>
              <a:t>https://developers.llamaindex.ai/python/framework/module_guides/storing/vector_stores/</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Docling erkennt Dokumentstruktur einschließlich Tabellen. Der aktualisierte Parser exportiert Seiten separat und fügt physische PDF-Seitenmarker hinzu. Das bisherige Markdown bleibt als vorhandene Wissensbasis erhalten, bis eine neue Extraktion geprüft wurde.</a:t>
            </a:r>
          </a:p>
          <a:p xmlns:a="http://schemas.openxmlformats.org/drawingml/2006/main">
            <a:r>
              <a:t/>
            </a:r>
          </a:p>
          <a:p xmlns:a="http://schemas.openxmlformats.org/drawingml/2006/main">
            <a:r>
              <a:t>Quellen (Abruf 19.09.2026):</a:t>
            </a:r>
          </a:p>
          <a:p xmlns:a="http://schemas.openxmlformats.org/drawingml/2006/main">
            <a:r>
              <a:t>https://docling-project.github.io/docling/reference/document_converter/</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Handbuch enthält breite Fehler- und Störungstabellen. Große Tabellen werden zeilenweise zerlegt. Fortsetzungszeilen übernehmen ihr vorheriges Fehler-/Störungsthema. Mehrere Tabellen behalten jeweils ihre eigenen Spaltenüberschriften.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Token ist eine modellabhängige Texteineinheit. Das E5-Modell verarbeitet höchstens 512 Tokens. Der neue Splitter verwendet den E5-Tokenizer, standardmäßig 440 Tokens und 40 Tokens Überlappung. Metadaten werden nicht zusätzlich in das Embedding eingespeist.</a:t>
            </a:r>
          </a:p>
          <a:p xmlns:a="http://schemas.openxmlformats.org/drawingml/2006/main">
            <a:r>
              <a:t/>
            </a:r>
          </a:p>
          <a:p xmlns:a="http://schemas.openxmlformats.org/drawingml/2006/main">
            <a:r>
              <a:t>Quellen (Abruf 19.09.2026):</a:t>
            </a:r>
          </a:p>
          <a:p xmlns:a="http://schemas.openxmlformats.org/drawingml/2006/main">
            <a:r>
              <a:t>https://huggingface.co/intfloat/multilingual-e5-small</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verwendete multilingual-e5-small hat laut Modellkonfiguration 384 Dimensionen. Das Modell benötigt query:- und passage:-Präfixe auch bei deutschen Texten. Die gezeichneten Vektoren sind illustrative Kurzformen, keine gemessenen Werte.</a:t>
            </a:r>
          </a:p>
          <a:p xmlns:a="http://schemas.openxmlformats.org/drawingml/2006/main">
            <a:r>
              <a:t/>
            </a:r>
          </a:p>
          <a:p xmlns:a="http://schemas.openxmlformats.org/drawingml/2006/main">
            <a:r>
              <a:t>Quellen (Abruf 19.09.2026):</a:t>
            </a:r>
          </a:p>
          <a:p xmlns:a="http://schemas.openxmlformats.org/drawingml/2006/main">
            <a:r>
              <a:t>https://huggingface.co/intfloat/multilingual-e5-small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Kosinusähnlichkeit misst den Winkel zwischen zwei Vektoren. Eine hohe Ähnlichkeit kann thematische Nähe ausdrücken, belegt aber keine vollständige Antwort. Im kleinen Standard-Vektorspeicher erfolgt eine direkte Ähnlichkeitssuche.</a:t>
            </a:r>
          </a:p>
          <a:p xmlns:a="http://schemas.openxmlformats.org/drawingml/2006/main">
            <a:r>
              <a:t/>
            </a:r>
          </a:p>
          <a:p xmlns:a="http://schemas.openxmlformats.org/drawingml/2006/main">
            <a:r>
              <a:t>Quellen (Abruf 19.09.2026):</a:t>
            </a:r>
          </a:p>
          <a:p xmlns:a="http://schemas.openxmlformats.org/drawingml/2006/main">
            <a:r>
              <a:t>https://developers.llamaindex.ai/python/framework/module_guides/storing/vector_stores/</a:t>
            </a:r>
          </a:p>
          <a:p xmlns:a="http://schemas.openxmlformats.org/drawingml/2006/main">
            <a:r>
              <a:t>https://huggingface.co/intfloat/multilingual-e5-small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Hybrid bezeichnet hier die Vereinigung von Dense Retrieval und einem exakten Fehlercode-Lookup. BM25, RRF und Volltext-Datenbanken sind in diesem Projekt nicht implementiert. Die Fehlercodesuche verwendet normalisierte vollständige Codes.</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BAAI/bge-reranker-v2-m3 ist ein mehrsprachiger Cross-Encoder. Anders als der Bi-Encoder bewertet er ein Paar aus Frage und Passage gemeinsam. Der aktualisierte Code setzt die Sigmoid-Abbildung explizit.</a:t>
            </a:r>
          </a:p>
          <a:p xmlns:a="http://schemas.openxmlformats.org/drawingml/2006/main">
            <a:r>
              <a:t/>
            </a:r>
          </a:p>
          <a:p xmlns:a="http://schemas.openxmlformats.org/drawingml/2006/main">
            <a:r>
              <a:t>Quellen (Abruf 19.09.2026):</a:t>
            </a:r>
          </a:p>
          <a:p xmlns:a="http://schemas.openxmlformats.org/drawingml/2006/main">
            <a:r>
              <a:t>https://huggingface.co/BAAI/bge-reranker-v2-m3</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Standardwert 0,15 ist ein Projektparameter, kein universeller Grenzwert. Ohne Reranker lässt der konservative Fallback nur exakte Fehlercode-Treffer zu. Ein gefundenes Dokumentstück allein beweist keine Antworttreue.</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https://huggingface.co/BAAI/bge-reranker-v2-m3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siemens-handbuch.pdf, physische und gedruckte Seite 33, Tabelle Hinweise im Anzeigefeld. Die Referenzen auf 30/31/36 sind weiterführende Seiten. Die bisherige Quellenfunktion bezeichnete diese fälschlich als Fundseiten.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server.py startet die gemeinsame Anwendung. Der GUI-Umschalter wählt den Anbieter pro Anfrage. Embeddings und Vektorindex bleiben lokal. Frage und abgerufene Textauszüge werden an die OpenAI API übertragen. Der API-Schlüssel wird in der Oberfläche eingegeben und bleibt im lokalen Server-Arbeitsspeicher für diese Browsersitzung.</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https://developers.openai.com/api/docs/models/gpt-4.1-mini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server.py startet die gemeinsame App. Der GUI-Schalter wählt LM Studio. Läuft die App direkt auf dem Mac, adressiert 127.0.0.1 den Mac. Läuft die App unter Windows, adressiert dieselbe Adresse Windows. MLX-Modelle sind an Apple Silicon gebunden und dürfen nicht als universelles Default vorausgesetzt werden.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https://lmstudio.ai/docs/developer/openai-compat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Vergleich der beiden Anbieter in der gemeinsamen Anwendung. Keine Rechts- oder Datenschutzkonformität allein aus dem Betriebsort ableiten. Lokaler Betrieb hat ebenfalls Hardware-, Energie- und Wartungskosten.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https://lmstudio.ai/docs/developer/openai-compat</a:t>
            </a:r>
          </a:p>
          <a:p xmlns:a="http://schemas.openxmlformats.org/drawingml/2006/main">
            <a:r>
              <a:t>https://developers.openai.com/api/docs/models/gpt-4.1-mini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PageIndex ist ein vectorless Ansatz mit dokumentbezogenem Baumindex. Die Fallstudie speichert Titel, Zusammenfassungen, Volltext und IDs. Sie implementiert eine eigene, vereinfachte Auswahl über flache Batches und keine vollständige agentische Tiefensuche des aktuellen SDK.</a:t>
            </a:r>
          </a:p>
          <a:p xmlns:a="http://schemas.openxmlformats.org/drawingml/2006/main">
            <a:r>
              <a:t/>
            </a:r>
          </a:p>
          <a:p xmlns:a="http://schemas.openxmlformats.org/drawingml/2006/main">
            <a:r>
              <a:t>Quellen (Abruf 19.09.2026):</a:t>
            </a:r>
          </a:p>
          <a:p xmlns:a="http://schemas.openxmlformats.org/drawingml/2006/main">
            <a:r>
              <a:t>https://github.com/VectifyAI/PageIndex</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Standardmäßig gehen 30 Abschnittsübersichten in einen Auswahlaufruf. Bei 187 Nodes ergeben sich 7 Batches. Wenn mehr als 5 Nodes ausgewählt wurden, folgt ein weiterer Aufruf zur globalen Auswahl. Damit entfällt die frühere Bevorzugung zuerst gelesener Kapitel.</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Vektor-Cache: SHA-256 über Quelle, Modellname, Parser-Version und Chunking-Einstellungen. PageIndex: Quellhash des Markdown. Ein FileLock verhindert gleichzeitigen Indexaufbau durch mehrere App-Prozesse.</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SSE ist ein Textformat für Ereignisse über HTTP. Die App verwendet POST plus fetch-Stream, nicht die browserseitige EventSource-Klasse. Der Browser liest UTF-8-Blöcke, puffert Teilereignisse und rendert das finale Ergebnis.</a:t>
            </a:r>
          </a:p>
          <a:p xmlns:a="http://schemas.openxmlformats.org/drawingml/2006/main">
            <a:r>
              <a:t/>
            </a:r>
          </a:p>
          <a:p xmlns:a="http://schemas.openxmlformats.org/drawingml/2006/main">
            <a:r>
              <a:t>Quellen (Abruf 19.09.2026):</a:t>
            </a:r>
          </a:p>
          <a:p xmlns:a="http://schemas.openxmlformats.org/drawingml/2006/main">
            <a:r>
              <a:t>https://developers.openai.com/api/docs/guides/streaming-responses</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Tabelle beschreibt konkrete Codekorrekturen des Audits. Die allgemeinen Qualitätshinweise zur Antwort bleiben bestehen: Testabdeckung ersetzt keine fachliche Prüfung der Modellantwort.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Weitere Befunde: beliebige Projektdateien konnten über eine Catch-all-Route ausgeliefert werden. Ungefilterte Antworten gelangten in innerHTML. Fehlerhafte Eingaben und Retrieval-Ausnahmen waren nicht konsistent behandelt. Der Prompt forderte allgemeine Tipps an, obwohl es keine Websuche gab.</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finale Versionsliste steht in requirements.txt und requirements-optional.txt. Aufgelöste Abhängigkeiten im Lockfile dokumentieren die getestete Python-3.12-Umgebung. Versionsstände und Testergebnisse sind keine Aussage über jede mögliche macOS-Konfiguration.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 und Regressionstests prüfen reproduzierbares Softwareverhalten ohne Antwortmodell. Retrieval-Messungen verwenden das reale Handbuch. End-to-End-Tests müssen zusätzlich echte Modellantworten auf korrekte Inhalte und Quelltreue bewerten.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Aktuelle ausführliche Messprotokolle und Einschränkungen siehe docs/AUDIT.md. Historische Werte des Ausgangsprojekts wurden nicht als neue Messung übernommen. Der Mac-End-to-End-Test benötigt den tatsächlich erreichbaren LM-Studio-Server.</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Zehn vorhandene Fragen, jeweils fünf finale Treffer. Alle Varianten verwenden dieselbe aktualisierte Chunking- und Embedding-Pipeline. Diese Ablation isoliert Lookup und Reranking, sie ist kein Vorher-/Nachher-Benchmark des gesamten alten Projekts. Prozentwerte auf eine Nachkommastelle gerundet.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vorhandene Evalset wertet erwartete Stichwörter aus. Ein Treffer kann bereits durch ein einzelnes Wort entstehen. Deshalb handelt es sich um Keyword-Proxys, nicht um manuell beurteilte Relevanz oder Antwortkorrektheit.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Prüffälle sind Empfehlungen für einen größeren fachlich annotierten Testbestand. Sie sind keine Behauptung, dass die aktuelle Implementierung alle semantischen Gegenbeispiele sicher erkennt.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https://arxiv.org/abs/2312.10997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genannten Systeme sind Erweiterungsoptionen und nicht Bestandteile dieser Implementierung. HNSW und IVFFlat beschleunigen Approximate Nearest Neighbor Search. Ein Wechsel ist erst bei konkreten Anforderungen zu begründen.</a:t>
            </a:r>
          </a:p>
          <a:p xmlns:a="http://schemas.openxmlformats.org/drawingml/2006/main">
            <a:r>
              <a:t/>
            </a:r>
          </a:p>
          <a:p xmlns:a="http://schemas.openxmlformats.org/drawingml/2006/main">
            <a:r>
              <a:t>Quellen (Abruf 19.09.2026):</a:t>
            </a:r>
          </a:p>
          <a:p xmlns:a="http://schemas.openxmlformats.org/drawingml/2006/main">
            <a:r>
              <a:t>https://github.com/pgvector/pgvector</a:t>
            </a:r>
          </a:p>
          <a:p xmlns:a="http://schemas.openxmlformats.org/drawingml/2006/main">
            <a:r>
              <a:t>https://qdrant.tech/documentation/overview/</a:t>
            </a:r>
          </a:p>
          <a:p xmlns:a="http://schemas.openxmlformats.org/drawingml/2006/main">
            <a:r>
              <a:t>https://docs.trychroma.com/docs/overview/introduction</a:t>
            </a:r>
          </a:p>
          <a:p xmlns:a="http://schemas.openxmlformats.org/drawingml/2006/main">
            <a:r>
              <a:t>https://developers.llamaindex.ai/python/framework/module_guides/storing/vector_stores/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Aus dem Repository-Stamm eine Python-3.12-Umgebung anlegen und die getesteten Laufzeitabhängigkeiten installieren. Modell und Kontextfenster in LM Studio passend zur Hardware laden. Für die App auf demselben Mac bleibt der Endpoint 127.0.0.1:1234/v1.</a:t>
            </a:r>
          </a:p>
          <a:p xmlns:a="http://schemas.openxmlformats.org/drawingml/2006/main">
            <a:r>
              <a:t/>
            </a:r>
          </a:p>
          <a:p xmlns:a="http://schemas.openxmlformats.org/drawingml/2006/main">
            <a:r>
              <a:t>Quellen (Abruf 19.09.2026):</a:t>
            </a:r>
          </a:p>
          <a:p xmlns:a="http://schemas.openxmlformats.org/drawingml/2006/main">
            <a:r>
              <a:t>https://lmstudio.ai/docs/developer/openai-compat</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Key bleibt für diese Browsersitzung im Arbeitsspeicher des lokalen Servers, maximal acht Stunden. Das Passwortfeld wird nach der Übernahme geleert. Cookies enthalten nur Sitzungs-ID und CSRF-Token. Der Server verwendet den Key als HTTPS-Anmeldedatum an der OpenAI API, nie als Promptinhalt.</a:t>
            </a:r>
          </a:p>
          <a:p xmlns:a="http://schemas.openxmlformats.org/drawingml/2006/main">
            <a:r>
              <a:t/>
            </a:r>
          </a:p>
          <a:p xmlns:a="http://schemas.openxmlformats.org/drawingml/2006/main">
            <a:r>
              <a:t>Quellen (Abruf 19.09.2026):</a:t>
            </a:r>
          </a:p>
          <a:p xmlns:a="http://schemas.openxmlformats.org/drawingml/2006/main">
            <a:r>
              <a:t>https://developers.openai.com/api/docs/models/gpt-4.1-mini</a:t>
            </a:r>
          </a:p>
          <a:p xmlns:a="http://schemas.openxmlformats.org/drawingml/2006/main">
            <a:r>
              <a:t>https://github.com/swrobuts/SiemensWashingMachineTroubleShooting_LocalLLM</a:t>
            </a:r>
          </a:p>
          <a:p xmlns:a="http://schemas.openxmlformats.org/drawingml/2006/main">
            <a:r>
              <a:t>https://flask.palletsprojects.com/web-security/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SessionKeys hält den Key im Server-Arbeitsspeicher. Browser erhalten ihn nicht zurück. Der Key wird weder in GitHub noch in Konfigurationsdateien, localStorage, sessionStorage oder Cookies abgelegt. Die App prüft Loopback-Adresse, Host und Origin; Änderungen am Key benötigen CSRF. Fehlerprotokolle enthalten nur den Ausnahmetyp.</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a:p xmlns:a="http://schemas.openxmlformats.org/drawingml/2006/main">
            <a:r>
              <a:t>https://flask.palletsprojects.com/web-security/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vollständige gemeinsame Stand liegt im bestehenden GitHub-Repository. Lokale Konfiguration, Modellgewichte und generierte Vektorindizes gehören nicht in Git. Git-Historie erlaubt das Nachvollziehen der geprüften Änderungen.</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Priorisierung aus dem Befund dieser konkreten Lehranwendung. Keine Behauptung produktionsreifer oder automatisch sicherer Maschinenberatung. Ein Cloud-Deployment und eine alternative Datenbank wurden nicht beauftragt oder eingerichtet.</a:t>
            </a:r>
          </a:p>
          <a:p xmlns:a="http://schemas.openxmlformats.org/drawingml/2006/main">
            <a:r>
              <a:t/>
            </a:r>
          </a:p>
          <a:p xmlns:a="http://schemas.openxmlformats.org/drawingml/2006/main">
            <a:r>
              <a:t>Quellen (Abruf 19.09.2026):</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Alle externen URLs stehen zusätzlich bei den betreffenden Folien in den Notizen. Projektbefunde basieren auf dem lokalen Quellcode, PDF und Testprotokoll.</a:t>
            </a:r>
          </a:p>
          <a:p xmlns:a="http://schemas.openxmlformats.org/drawingml/2006/main">
            <a:r>
              <a:t/>
            </a:r>
          </a:p>
          <a:p xmlns:a="http://schemas.openxmlformats.org/drawingml/2006/main">
            <a:r>
              <a:t>Quellen (Abruf 19.09.2026):</a:t>
            </a:r>
          </a:p>
          <a:p xmlns:a="http://schemas.openxmlformats.org/drawingml/2006/main">
            <a:r>
              <a:t>https://arxiv.org/abs/2005.11401</a:t>
            </a:r>
          </a:p>
          <a:p xmlns:a="http://schemas.openxmlformats.org/drawingml/2006/main">
            <a:r>
              <a:t>https://arxiv.org/abs/2312.10997</a:t>
            </a:r>
          </a:p>
          <a:p xmlns:a="http://schemas.openxmlformats.org/drawingml/2006/main">
            <a:r>
              <a:t>https://huggingface.co/intfloat/multilingual-e5-small</a:t>
            </a:r>
          </a:p>
          <a:p xmlns:a="http://schemas.openxmlformats.org/drawingml/2006/main">
            <a:r>
              <a:t>https://huggingface.co/BAAI/bge-reranker-v2-m3</a:t>
            </a:r>
          </a:p>
          <a:p xmlns:a="http://schemas.openxmlformats.org/drawingml/2006/main">
            <a:r>
              <a:t>https://developers.llamaindex.ai/python/framework/module_guides/storing/vector_stores/</a:t>
            </a:r>
          </a:p>
          <a:p xmlns:a="http://schemas.openxmlformats.org/drawingml/2006/main">
            <a:r>
              <a:t>https://docling-project.github.io/docling/reference/document_converter/</a:t>
            </a:r>
          </a:p>
          <a:p xmlns:a="http://schemas.openxmlformats.org/drawingml/2006/main">
            <a:r>
              <a:t>https://github.com/VectifyAI/PageIndex</a:t>
            </a:r>
          </a:p>
          <a:p xmlns:a="http://schemas.openxmlformats.org/drawingml/2006/main">
            <a:r>
              <a:t>https://lmstudio.ai/docs/developer/openai-compat</a:t>
            </a:r>
          </a:p>
          <a:p xmlns:a="http://schemas.openxmlformats.org/drawingml/2006/main">
            <a:r>
              <a:t>https://developers.openai.com/api/docs/models/gpt-4.1-mini</a:t>
            </a:r>
          </a:p>
          <a:p xmlns:a="http://schemas.openxmlformats.org/drawingml/2006/main">
            <a:r>
              <a:t>https://developers.openai.com/api/docs/guides/streaming-responses</a:t>
            </a:r>
          </a:p>
          <a:p xmlns:a="http://schemas.openxmlformats.org/drawingml/2006/main">
            <a:r>
              <a:t>https://github.com/pgvector/pgvector</a:t>
            </a:r>
          </a:p>
          <a:p xmlns:a="http://schemas.openxmlformats.org/drawingml/2006/main">
            <a:r>
              <a:t>https://qdrant.tech/documentation/overview/</a:t>
            </a:r>
          </a:p>
          <a:p xmlns:a="http://schemas.openxmlformats.org/drawingml/2006/main">
            <a:r>
              <a:t>https://docs.trychroma.com/docs/overview/introduction</a:t>
            </a:r>
          </a:p>
          <a:p xmlns:a="http://schemas.openxmlformats.org/drawingml/2006/main">
            <a:r>
              <a:t>https://github.com/swrobuts/SiemensWashingMachineTroubleShooting_LocalLLM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16a8bf4600e41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b4c553ade8412a" /><Relationship Type="http://schemas.openxmlformats.org/officeDocument/2006/relationships/slideLayout" Target="/ppt/slideLayouts/slideLayout1.xml" Id="R62803434e91142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803434e91142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ec21b39f2d24e01" /><Relationship Type="http://schemas.openxmlformats.org/officeDocument/2006/relationships/notesSlide" Target="/ppt/notesSlides/notesSlide1.xml" Id="R740d6059488242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200cd3bc2e74522" /><Relationship Type="http://schemas.openxmlformats.org/officeDocument/2006/relationships/notesSlide" Target="/ppt/notesSlides/notesSlide2.xml" Id="R5dc2f118191f45d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a079edc133947ce" /><Relationship Type="http://schemas.openxmlformats.org/officeDocument/2006/relationships/notesSlide" Target="/ppt/notesSlides/notesSlide3.xml" Id="R7a4fe87bf9ae449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872516401f94902" /><Relationship Type="http://schemas.openxmlformats.org/officeDocument/2006/relationships/notesSlide" Target="/ppt/notesSlides/notesSlide4.xml" Id="R6f0a8d1a5a684d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f04fff807a74812" /><Relationship Type="http://schemas.openxmlformats.org/officeDocument/2006/relationships/notesSlide" Target="/ppt/notesSlides/notesSlide5.xml" Id="R13b12d28313c426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d3046648ac94f72" /><Relationship Type="http://schemas.openxmlformats.org/officeDocument/2006/relationships/notesSlide" Target="/ppt/notesSlides/notesSlide6.xml" Id="Rd997d108cad1401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8a51be2048248fc" /><Relationship Type="http://schemas.openxmlformats.org/officeDocument/2006/relationships/notesSlide" Target="/ppt/notesSlides/notesSlide7.xml" Id="R3b88e315f0e944e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205fe30f5a54d88" /><Relationship Type="http://schemas.openxmlformats.org/officeDocument/2006/relationships/notesSlide" Target="/ppt/notesSlides/notesSlide8.xml" Id="Rb35fbdb10b72466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f00953df8af4b9b" /><Relationship Type="http://schemas.openxmlformats.org/officeDocument/2006/relationships/notesSlide" Target="/ppt/notesSlides/notesSlide9.xml" Id="R4c5138dddb3d4fb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3603fd28beb40e2" /><Relationship Type="http://schemas.openxmlformats.org/officeDocument/2006/relationships/notesSlide" Target="/ppt/notesSlides/notesSlide10.xml" Id="R0a5c5e1afa2041d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eb93fcaeb0d4bbc" /><Relationship Type="http://schemas.openxmlformats.org/officeDocument/2006/relationships/notesSlide" Target="/ppt/notesSlides/notesSlide11.xml" Id="R2f9989227429497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d277093dc184376" /><Relationship Type="http://schemas.openxmlformats.org/officeDocument/2006/relationships/notesSlide" Target="/ppt/notesSlides/notesSlide12.xml" Id="R895dd16629da4c0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8b1b81636fb47d1" /><Relationship Type="http://schemas.openxmlformats.org/officeDocument/2006/relationships/notesSlide" Target="/ppt/notesSlides/notesSlide13.xml" Id="Rc3f20e56102a412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2eb810cc2924dac" /><Relationship Type="http://schemas.openxmlformats.org/officeDocument/2006/relationships/notesSlide" Target="/ppt/notesSlides/notesSlide14.xml" Id="R66cde8942036465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53b0af413874812" /><Relationship Type="http://schemas.openxmlformats.org/officeDocument/2006/relationships/image" Target="/ppt/media/image.png" Id="Rf9b0e1278aef4e7f" /><Relationship Type="http://schemas.openxmlformats.org/officeDocument/2006/relationships/notesSlide" Target="/ppt/notesSlides/notesSlide15.xml" Id="Rd94f04bb25d44ca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6d546d320184022" /><Relationship Type="http://schemas.openxmlformats.org/officeDocument/2006/relationships/notesSlide" Target="/ppt/notesSlides/notesSlide16.xml" Id="R77ed68ac18aa4ab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d56fc3c42e9410d" /><Relationship Type="http://schemas.openxmlformats.org/officeDocument/2006/relationships/notesSlide" Target="/ppt/notesSlides/notesSlide17.xml" Id="R50c037b8915d46a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00b05f8584e42b2" /><Relationship Type="http://schemas.openxmlformats.org/officeDocument/2006/relationships/notesSlide" Target="/ppt/notesSlides/notesSlide18.xml" Id="Rfb5167d3a0cf418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0882d6f5f2e4196" /><Relationship Type="http://schemas.openxmlformats.org/officeDocument/2006/relationships/notesSlide" Target="/ppt/notesSlides/notesSlide19.xml" Id="Rac7401ddc9c94fc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3b0e78930a84e80" /><Relationship Type="http://schemas.openxmlformats.org/officeDocument/2006/relationships/notesSlide" Target="/ppt/notesSlides/notesSlide20.xml" Id="R584fd90294114d6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fad625c935d4657" /><Relationship Type="http://schemas.openxmlformats.org/officeDocument/2006/relationships/notesSlide" Target="/ppt/notesSlides/notesSlide21.xml" Id="R6352005e5def4e4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9829523442b4c40" /><Relationship Type="http://schemas.openxmlformats.org/officeDocument/2006/relationships/notesSlide" Target="/ppt/notesSlides/notesSlide22.xml" Id="R1ca7f98d0c954f0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a9b7888c87244b4" /><Relationship Type="http://schemas.openxmlformats.org/officeDocument/2006/relationships/notesSlide" Target="/ppt/notesSlides/notesSlide23.xml" Id="Ra728384a4afc4e1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824ecdcdfbf403d" /><Relationship Type="http://schemas.openxmlformats.org/officeDocument/2006/relationships/notesSlide" Target="/ppt/notesSlides/notesSlide24.xml" Id="Rc6c27b54665f45e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d9738e78dd847be" /><Relationship Type="http://schemas.openxmlformats.org/officeDocument/2006/relationships/notesSlide" Target="/ppt/notesSlides/notesSlide25.xml" Id="R676290b905e048f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e3cf0e3a6a4455e" /><Relationship Type="http://schemas.openxmlformats.org/officeDocument/2006/relationships/notesSlide" Target="/ppt/notesSlides/notesSlide26.xml" Id="Rb45ff1857f7a4d0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94f536c5504439e" /><Relationship Type="http://schemas.openxmlformats.org/officeDocument/2006/relationships/notesSlide" Target="/ppt/notesSlides/notesSlide27.xml" Id="R8890778a4bd64ab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9678b9afd044961" /><Relationship Type="http://schemas.openxmlformats.org/officeDocument/2006/relationships/notesSlide" Target="/ppt/notesSlides/notesSlide28.xml" Id="Rf1fcf79e7db44c8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0ddd220a0ae4f5c" /><Relationship Type="http://schemas.openxmlformats.org/officeDocument/2006/relationships/notesSlide" Target="/ppt/notesSlides/notesSlide29.xml" Id="R11fa648e316f44c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725e1e137414097" /><Relationship Type="http://schemas.openxmlformats.org/officeDocument/2006/relationships/notesSlide" Target="/ppt/notesSlides/notesSlide30.xml" Id="R8f713eb5e7c34e8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44261ef4d514d5c" /><Relationship Type="http://schemas.openxmlformats.org/officeDocument/2006/relationships/notesSlide" Target="/ppt/notesSlides/notesSlide31.xml" Id="R198ec1b7453c4f2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40ec0e028284977" /><Relationship Type="http://schemas.openxmlformats.org/officeDocument/2006/relationships/notesSlide" Target="/ppt/notesSlides/notesSlide32.xml" Id="Reb2fde1d7758468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0a180f26f1a4fe8" /><Relationship Type="http://schemas.openxmlformats.org/officeDocument/2006/relationships/notesSlide" Target="/ppt/notesSlides/notesSlide33.xml" Id="R35325edd93e9462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cc7b2b7f3774229" /><Relationship Type="http://schemas.openxmlformats.org/officeDocument/2006/relationships/notesSlide" Target="/ppt/notesSlides/notesSlide34.xml" Id="R533d0df5699f442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6878b75b8434b2a" /><Relationship Type="http://schemas.openxmlformats.org/officeDocument/2006/relationships/notesSlide" Target="/ppt/notesSlides/notesSlide35.xml" Id="Rcb4a000b109044d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38b76dae1bac49c8" /><Relationship Type="http://schemas.openxmlformats.org/officeDocument/2006/relationships/notesSlide" Target="/ppt/notesSlides/notesSlide36.xml" Id="Rc662498c6e42462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6b1e8ac6d9942e5" /><Relationship Type="http://schemas.openxmlformats.org/officeDocument/2006/relationships/notesSlide" Target="/ppt/notesSlides/notesSlide37.xml" Id="Rb60fdea61de643d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A3D216A-A659-43E9-B868-E74514F821CD}"/>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RAG für eine</a:t>
            </a:r>
          </a:p>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Waschmaschinenanleitung</a:t>
            </a:r>
          </a:p>
        </p:txBody>
      </p:sp>
      <p:sp>
        <p:nvSpPr>
          <p:cNvPr id="2" name="">
            <a:extLst xmlns:a="http://schemas.openxmlformats.org/drawingml/2006/main">
              <a:ext uri="{FF2B5EF4-FFF2-40B4-BE49-F238E27FC236}">
                <a16:creationId xmlns:a16="http://schemas.microsoft.com/office/drawing/2014/main" id="{0F826C6E-ACD8-497D-8031-0E675FB59D90}"/>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84DBD903-970B-49A5-B585-9E4EB14F5DF7}"/>
              </a:ext>
            </a:extLst>
          </p:cNvPr>
          <p:cNvSpPr>
            <a:spLocks xmlns:a="http://schemas.openxmlformats.org/drawingml/2006/main" noGrp="1"/>
          </p:cNvSpPr>
          <p:nvPr/>
        </p:nvSpPr>
        <p:spPr>
          <a:xfrm xmlns:a="http://schemas.openxmlformats.org/drawingml/2006/main">
            <a:off x="609600" y="264795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550" b="0">
                <a:solidFill>
                  <a:srgbClr val="007B83"/>
                </a:solidFill>
                <a:latin typeface="Arial"/>
                <a:ea typeface="Arial"/>
                <a:cs typeface="Arial"/>
              </a:defRPr>
            </a:pPr>
            <a:r>
              <a:rPr sz="2550" b="0">
                <a:solidFill>
                  <a:srgbClr val="007B83"/>
                </a:solidFill>
                <a:latin typeface="Arial"/>
                <a:ea typeface="Arial"/>
                <a:cs typeface="Arial"/>
              </a:rPr>
              <a:t>OpenAI API und lokales LLM mit LM Studio</a:t>
            </a:r>
          </a:p>
        </p:txBody>
      </p:sp>
      <p:sp>
        <p:nvSpPr>
          <p:cNvPr id="4" name="">
            <a:extLst xmlns:a="http://schemas.openxmlformats.org/drawingml/2006/main">
              <a:ext uri="{FF2B5EF4-FFF2-40B4-BE49-F238E27FC236}">
                <a16:creationId xmlns:a16="http://schemas.microsoft.com/office/drawing/2014/main" id="{B2AC5AB5-9020-437F-8137-CE433EF35BA8}"/>
              </a:ext>
            </a:extLst>
          </p:cNvPr>
          <p:cNvSpPr>
            <a:spLocks xmlns:a="http://schemas.openxmlformats.org/drawingml/2006/main" noGrp="1"/>
          </p:cNvSpPr>
          <p:nvPr/>
        </p:nvSpPr>
        <p:spPr>
          <a:xfrm xmlns:a="http://schemas.openxmlformats.org/drawingml/2006/main">
            <a:off x="609600" y="38576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152D3A"/>
                </a:solidFill>
                <a:latin typeface="Arial"/>
                <a:ea typeface="Arial"/>
                <a:cs typeface="Arial"/>
              </a:defRPr>
            </a:pPr>
            <a:r>
              <a:rPr sz="2250" b="0">
                <a:solidFill>
                  <a:srgbClr val="152D3A"/>
                </a:solidFill>
                <a:latin typeface="Arial"/>
                <a:ea typeface="Arial"/>
                <a:cs typeface="Arial"/>
              </a:rPr>
              <a:t>Grundlagen, Architektur, Fehlerprüfung und Betrieb</a:t>
            </a:r>
          </a:p>
        </p:txBody>
      </p:sp>
      <p:sp>
        <p:nvSpPr>
          <p:cNvPr id="5" name="">
            <a:extLst xmlns:a="http://schemas.openxmlformats.org/drawingml/2006/main">
              <a:ext uri="{FF2B5EF4-FFF2-40B4-BE49-F238E27FC236}">
                <a16:creationId xmlns:a16="http://schemas.microsoft.com/office/drawing/2014/main" id="{05623B77-4C26-479A-A398-5FF9A491F3DD}"/>
              </a:ext>
            </a:extLst>
          </p:cNvPr>
          <p:cNvSpPr>
            <a:spLocks xmlns:a="http://schemas.openxmlformats.org/drawingml/2006/main" noGrp="1"/>
          </p:cNvSpPr>
          <p:nvPr/>
        </p:nvSpPr>
        <p:spPr>
          <a:xfrm xmlns:a="http://schemas.openxmlformats.org/drawingml/2006/main">
            <a:off x="609600" y="53816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566770"/>
                </a:solidFill>
                <a:latin typeface="Arial"/>
                <a:ea typeface="Arial"/>
                <a:cs typeface="Arial"/>
              </a:defRPr>
            </a:pPr>
            <a:r>
              <a:rPr sz="1800" b="0">
                <a:solidFill>
                  <a:srgbClr val="566770"/>
                </a:solidFill>
                <a:latin typeface="Arial"/>
                <a:ea typeface="Arial"/>
                <a:cs typeface="Arial"/>
              </a:rPr>
              <a:t>Technische Lehrdokumentation · Stand 19. September 2026</a:t>
            </a:r>
          </a:p>
        </p:txBody>
      </p:sp>
    </p:spTree>
    <p:extLst>
      <p:ext uri="{BB962C8B-B14F-4D97-AF65-F5344CB8AC3E}">
        <p14:creationId xmlns:p14="http://schemas.microsoft.com/office/powerpoint/2010/main" val="151782443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07FA22-6771-460B-98CB-A7F76C09D0BC}"/>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Aufbau der Fallstudie</a:t>
            </a:r>
          </a:p>
        </p:txBody>
      </p:sp>
      <p:sp>
        <p:nvSpPr>
          <p:cNvPr id="2" name="">
            <a:extLst xmlns:a="http://schemas.openxmlformats.org/drawingml/2006/main">
              <a:ext uri="{FF2B5EF4-FFF2-40B4-BE49-F238E27FC236}">
                <a16:creationId xmlns:a16="http://schemas.microsoft.com/office/drawing/2014/main" id="{378431B3-6DFA-4919-985D-759C93749FD3}"/>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9A0D9CE5-D17A-48C1-96B0-08071FA03156}"/>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Wissensbasis</a:t>
            </a:r>
          </a:p>
        </p:txBody>
      </p:sp>
      <p:sp>
        <p:nvSpPr>
          <p:cNvPr id="4" name="">
            <a:extLst xmlns:a="http://schemas.openxmlformats.org/drawingml/2006/main">
              <a:ext uri="{FF2B5EF4-FFF2-40B4-BE49-F238E27FC236}">
                <a16:creationId xmlns:a16="http://schemas.microsoft.com/office/drawing/2014/main" id="{8DF228BC-4B65-42F1-B78E-758088A1D02B}"/>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Eine Siemens-Gebrauchs- und Aufstellanleitung mit 48 PDF-Seiten.</a:t>
            </a:r>
          </a:p>
        </p:txBody>
      </p:sp>
      <p:sp>
        <p:nvSpPr>
          <p:cNvPr id="5" name="">
            <a:extLst xmlns:a="http://schemas.openxmlformats.org/drawingml/2006/main">
              <a:ext uri="{FF2B5EF4-FFF2-40B4-BE49-F238E27FC236}">
                <a16:creationId xmlns:a16="http://schemas.microsoft.com/office/drawing/2014/main" id="{E871FA83-4A89-42D6-ABDF-E2EF4EA0D97C}"/>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Ein Projekt</a:t>
            </a:r>
          </a:p>
        </p:txBody>
      </p:sp>
      <p:sp>
        <p:nvSpPr>
          <p:cNvPr id="6" name="">
            <a:extLst xmlns:a="http://schemas.openxmlformats.org/drawingml/2006/main">
              <a:ext uri="{FF2B5EF4-FFF2-40B4-BE49-F238E27FC236}">
                <a16:creationId xmlns:a16="http://schemas.microsoft.com/office/drawing/2014/main" id="{23C80B32-4357-45D5-9155-2BEEC8619831}"/>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Ein GUI auf Port 3001. Modellanbieter per Toggle auswählen.</a:t>
            </a:r>
          </a:p>
        </p:txBody>
      </p:sp>
      <p:sp>
        <p:nvSpPr>
          <p:cNvPr id="7" name="">
            <a:extLst xmlns:a="http://schemas.openxmlformats.org/drawingml/2006/main">
              <a:ext uri="{FF2B5EF4-FFF2-40B4-BE49-F238E27FC236}">
                <a16:creationId xmlns:a16="http://schemas.microsoft.com/office/drawing/2014/main" id="{EA77991B-8355-41C8-ACF3-6B79CD45C041}"/>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Zwei Suchwege</a:t>
            </a:r>
          </a:p>
        </p:txBody>
      </p:sp>
      <p:sp>
        <p:nvSpPr>
          <p:cNvPr id="8" name="">
            <a:extLst xmlns:a="http://schemas.openxmlformats.org/drawingml/2006/main">
              <a:ext uri="{FF2B5EF4-FFF2-40B4-BE49-F238E27FC236}">
                <a16:creationId xmlns:a16="http://schemas.microsoft.com/office/drawing/2014/main" id="{DD871768-1136-48BC-882C-1C1E783FCEBA}"/>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Hybrid-Retrieval als Standard. PageIndex als experimentelle Alternative.</a:t>
            </a:r>
          </a:p>
        </p:txBody>
      </p:sp>
      <p:sp>
        <p:nvSpPr>
          <p:cNvPr id="9" name="">
            <a:extLst xmlns:a="http://schemas.openxmlformats.org/drawingml/2006/main">
              <a:ext uri="{FF2B5EF4-FFF2-40B4-BE49-F238E27FC236}">
                <a16:creationId xmlns:a16="http://schemas.microsoft.com/office/drawing/2014/main" id="{5FA8BA25-3ED2-4C3C-AE86-26BF40156915}"/>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Lernziel</a:t>
            </a:r>
          </a:p>
        </p:txBody>
      </p:sp>
      <p:sp>
        <p:nvSpPr>
          <p:cNvPr id="10" name="">
            <a:extLst xmlns:a="http://schemas.openxmlformats.org/drawingml/2006/main">
              <a:ext uri="{FF2B5EF4-FFF2-40B4-BE49-F238E27FC236}">
                <a16:creationId xmlns:a16="http://schemas.microsoft.com/office/drawing/2014/main" id="{9FB240CD-F361-43D5-BBE6-2C15AC8A02A3}"/>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Jede Antwort bis zum verwendeten Handbuchabschnitt nachvollziehen.</a:t>
            </a:r>
          </a:p>
        </p:txBody>
      </p:sp>
    </p:spTree>
    <p:extLst>
      <p:ext uri="{BB962C8B-B14F-4D97-AF65-F5344CB8AC3E}">
        <p14:creationId xmlns:p14="http://schemas.microsoft.com/office/powerpoint/2010/main" val="3440639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274FC3A-533B-4506-83D7-001ADCB8DE28}"/>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RAG: Suche vor der Antwort</a:t>
            </a:r>
          </a:p>
        </p:txBody>
      </p:sp>
      <p:sp>
        <p:nvSpPr>
          <p:cNvPr id="2" name="">
            <a:extLst xmlns:a="http://schemas.openxmlformats.org/drawingml/2006/main">
              <a:ext uri="{FF2B5EF4-FFF2-40B4-BE49-F238E27FC236}">
                <a16:creationId xmlns:a16="http://schemas.microsoft.com/office/drawing/2014/main" id="{07ABBCC4-377F-48D0-AA3C-045E2C8AB8BD}"/>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5A00CCC8-0863-40E6-81AF-E3E821949372}"/>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a:t>
            </a:r>
          </a:p>
        </p:txBody>
      </p:sp>
      <p:sp>
        <p:nvSpPr>
          <p:cNvPr id="4" name="">
            <a:extLst xmlns:a="http://schemas.openxmlformats.org/drawingml/2006/main">
              <a:ext uri="{FF2B5EF4-FFF2-40B4-BE49-F238E27FC236}">
                <a16:creationId xmlns:a16="http://schemas.microsoft.com/office/drawing/2014/main" id="{19122EC7-44AB-4EBE-913D-79DF562BDA4E}"/>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Relevante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Textstellen</a:t>
            </a:r>
          </a:p>
        </p:txBody>
      </p:sp>
      <p:sp>
        <p:nvSpPr>
          <p:cNvPr id="5" name="">
            <a:extLst xmlns:a="http://schemas.openxmlformats.org/drawingml/2006/main">
              <a:ext uri="{FF2B5EF4-FFF2-40B4-BE49-F238E27FC236}">
                <a16:creationId xmlns:a16="http://schemas.microsoft.com/office/drawing/2014/main" id="{98359F5D-95AF-4712-B700-2CEA4B6E693A}"/>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LLM mit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Kontext</a:t>
            </a:r>
          </a:p>
        </p:txBody>
      </p:sp>
      <p:sp>
        <p:nvSpPr>
          <p:cNvPr id="6" name="">
            <a:extLst xmlns:a="http://schemas.openxmlformats.org/drawingml/2006/main">
              <a:ext uri="{FF2B5EF4-FFF2-40B4-BE49-F238E27FC236}">
                <a16:creationId xmlns:a16="http://schemas.microsoft.com/office/drawing/2014/main" id="{2A72A5BF-EE19-4259-841A-21D0886D6625}"/>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Antwort mit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Quellenhinweis</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DA2BA8AB-6333-4DD6-89F2-0D84FF0CDE20}"/>
              </a:ext>
            </a:extLst>
          </p:cNvPr>
          <p:cNvSpPr>
            <a:spLocks xmlns:a="http://schemas.openxmlformats.org/drawingml/2006/main" noGrp="1"/>
          </p:cNvSpPr>
          <p:nvPr/>
        </p:nvSpPr>
        <p:spPr>
          <a:xfrm xmlns:a="http://schemas.openxmlformats.org/drawingml/2006/main">
            <a:off x="609600" y="15621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1">
                <a:solidFill>
                  <a:srgbClr val="007B83"/>
                </a:solidFill>
                <a:latin typeface="Arial"/>
                <a:ea typeface="Arial"/>
                <a:cs typeface="Arial"/>
              </a:defRPr>
            </a:pPr>
            <a:r>
              <a:rPr sz="2325" b="1">
                <a:solidFill>
                  <a:srgbClr val="007B83"/>
                </a:solidFill>
                <a:latin typeface="Arial"/>
                <a:ea typeface="Arial"/>
                <a:cs typeface="Arial"/>
              </a:rPr>
              <a:t>Retrieval-Augmented Generation</a:t>
            </a:r>
          </a:p>
        </p:txBody>
      </p:sp>
      <p:sp>
        <p:nvSpPr>
          <p:cNvPr id="11" name="">
            <a:extLst xmlns:a="http://schemas.openxmlformats.org/drawingml/2006/main">
              <a:ext uri="{FF2B5EF4-FFF2-40B4-BE49-F238E27FC236}">
                <a16:creationId xmlns:a16="http://schemas.microsoft.com/office/drawing/2014/main" id="{5F5CCA3F-73E6-45CC-AB39-3AA09C67F4C8}"/>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Die Wissensquelle lässt sich aktualisieren, ohne das Antwortmodell neu zu trainieren.</a:t>
            </a:r>
          </a:p>
        </p:txBody>
      </p:sp>
    </p:spTree>
    <p:extLst>
      <p:ext uri="{BB962C8B-B14F-4D97-AF65-F5344CB8AC3E}">
        <p14:creationId xmlns:p14="http://schemas.microsoft.com/office/powerpoint/2010/main" val="15425879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83DEC22-32D8-4184-B913-7041266D7428}"/>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Drei Wege zum Dokumentwissen</a:t>
            </a:r>
          </a:p>
        </p:txBody>
      </p:sp>
      <p:sp>
        <p:nvSpPr>
          <p:cNvPr id="2" name="">
            <a:extLst xmlns:a="http://schemas.openxmlformats.org/drawingml/2006/main">
              <a:ext uri="{FF2B5EF4-FFF2-40B4-BE49-F238E27FC236}">
                <a16:creationId xmlns:a16="http://schemas.microsoft.com/office/drawing/2014/main" id="{D9184417-8B67-4169-B6BD-AC577EC31595}"/>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04</a:t>
            </a:r>
          </a:p>
        </p:txBody>
      </p:sp>
      <p:graphicFrame>
        <p:nvGraphicFramePr>
          <p:cNvPr id="7" name=""/>
          <p:cNvGraphicFramePr/>
          <p:nvPr/>
        </p:nvGraphicFramePr>
        <p:xfrm>
          <a:off xmlns:a="http://schemas.openxmlformats.org/drawingml/2006/main" x="609600" y="1752600"/>
          <a:ext xmlns:a="http://schemas.openxmlformats.org/drawingml/2006/main" cx="10972800" cy="3333750"/>
        </p:xfrm>
        <a:graphic xmlns:a="http://schemas.openxmlformats.org/drawingml/2006/main">
          <a:graphicData uri="http://schemas.openxmlformats.org/drawingml/2006/table">
            <a:tbl>
              <a:tblPr/>
              <a:tblGrid>
                <a:gridCol w="2667000"/>
                <a:gridCol w="4438650"/>
                <a:gridCol w="3867150"/>
              </a:tblGrid>
              <a:tr h="833438">
                <a:tc>
                  <a:txBody>
                    <a:bodyPr/>
                    <a:lstStyle/>
                    <a:p>
                      <a:r>
                        <a:rPr sz="1950" b="1">
                          <a:solidFill>
                            <a:srgbClr val="152D3A"/>
                          </a:solidFill>
                          <a:latin typeface="Arial"/>
                          <a:ea typeface="Arial"/>
                          <a:cs typeface="Arial"/>
                        </a:rPr>
                        <a:t>Ansatz</a:t>
                      </a:r>
                    </a:p>
                  </a:txBody>
                  <a:tcPr marL="91440" marR="91440" marT="45720" marB="45720">
                    <a:solidFill>
                      <a:srgbClr val="EDF6F6"/>
                    </a:solidFill>
                  </a:tcPr>
                </a:tc>
                <a:tc>
                  <a:txBody>
                    <a:bodyPr/>
                    <a:lstStyle/>
                    <a:p>
                      <a:r>
                        <a:rPr sz="1950" b="1">
                          <a:solidFill>
                            <a:srgbClr val="152D3A"/>
                          </a:solidFill>
                          <a:latin typeface="Arial"/>
                          <a:ea typeface="Arial"/>
                          <a:cs typeface="Arial"/>
                        </a:rPr>
                        <a:t>Wissen zur Anfrage</a:t>
                      </a:r>
                    </a:p>
                  </a:txBody>
                  <a:tcPr marL="91440" marR="91440" marT="45720" marB="45720">
                    <a:solidFill>
                      <a:srgbClr val="EDF6F6"/>
                    </a:solidFill>
                  </a:tcPr>
                </a:tc>
                <a:tc>
                  <a:txBody>
                    <a:bodyPr/>
                    <a:lstStyle/>
                    <a:p>
                      <a:r>
                        <a:rPr sz="1950" b="1">
                          <a:solidFill>
                            <a:srgbClr val="152D3A"/>
                          </a:solidFill>
                          <a:latin typeface="Arial"/>
                          <a:ea typeface="Arial"/>
                          <a:cs typeface="Arial"/>
                        </a:rPr>
                        <a:t>Typischer Aufwand</a:t>
                      </a:r>
                    </a:p>
                  </a:txBody>
                  <a:tcPr marL="91440" marR="91440" marT="45720" marB="45720">
                    <a:solidFill>
                      <a:srgbClr val="EDF6F6"/>
                    </a:solidFill>
                  </a:tcPr>
                </a:tc>
              </a:tr>
              <a:tr h="833438">
                <a:tc>
                  <a:txBody>
                    <a:bodyPr/>
                    <a:lstStyle/>
                    <a:p>
                      <a:r>
                        <a:rPr sz="1950" b="0">
                          <a:solidFill>
                            <a:srgbClr val="152D3A"/>
                          </a:solidFill>
                          <a:latin typeface="Arial"/>
                          <a:ea typeface="Arial"/>
                          <a:cs typeface="Arial"/>
                        </a:rPr>
                        <a:t>Ganzer Text im Prompt</a:t>
                      </a:r>
                    </a:p>
                  </a:txBody>
                  <a:tcPr marL="91440" marR="91440" marT="45720" marB="45720">
                    <a:solidFill>
                      <a:srgbClr val="FFFFFF"/>
                    </a:solidFill>
                  </a:tcPr>
                </a:tc>
                <a:tc>
                  <a:txBody>
                    <a:bodyPr/>
                    <a:lstStyle/>
                    <a:p>
                      <a:r>
                        <a:rPr sz="1950" b="0">
                          <a:solidFill>
                            <a:srgbClr val="152D3A"/>
                          </a:solidFill>
                          <a:latin typeface="Arial"/>
                          <a:ea typeface="Arial"/>
                          <a:cs typeface="Arial"/>
                        </a:rPr>
                        <a:t>Dokument vollständig im Kontext</a:t>
                      </a:r>
                    </a:p>
                  </a:txBody>
                  <a:tcPr marL="91440" marR="91440" marT="45720" marB="45720">
                    <a:solidFill>
                      <a:srgbClr val="FFFFFF"/>
                    </a:solidFill>
                  </a:tcPr>
                </a:tc>
                <a:tc>
                  <a:txBody>
                    <a:bodyPr/>
                    <a:lstStyle/>
                    <a:p>
                      <a:r>
                        <a:rPr sz="1950" b="0">
                          <a:solidFill>
                            <a:srgbClr val="152D3A"/>
                          </a:solidFill>
                          <a:latin typeface="Arial"/>
                          <a:ea typeface="Arial"/>
                          <a:cs typeface="Arial"/>
                        </a:rPr>
                        <a:t>Kontextgröße und Eingabetokens</a:t>
                      </a:r>
                    </a:p>
                  </a:txBody>
                  <a:tcPr marL="91440" marR="91440" marT="45720" marB="45720">
                    <a:solidFill>
                      <a:srgbClr val="FFFFFF"/>
                    </a:solidFill>
                  </a:tcPr>
                </a:tc>
              </a:tr>
              <a:tr h="833438">
                <a:tc>
                  <a:txBody>
                    <a:bodyPr/>
                    <a:lstStyle/>
                    <a:p>
                      <a:r>
                        <a:rPr sz="1950" b="0">
                          <a:solidFill>
                            <a:srgbClr val="152D3A"/>
                          </a:solidFill>
                          <a:latin typeface="Arial"/>
                          <a:ea typeface="Arial"/>
                          <a:cs typeface="Arial"/>
                        </a:rPr>
                        <a:t>RAG</a:t>
                      </a:r>
                    </a:p>
                  </a:txBody>
                  <a:tcPr marL="91440" marR="91440" marT="45720" marB="45720">
                    <a:solidFill>
                      <a:srgbClr val="FFFFFF"/>
                    </a:solidFill>
                  </a:tcPr>
                </a:tc>
                <a:tc>
                  <a:txBody>
                    <a:bodyPr/>
                    <a:lstStyle/>
                    <a:p>
                      <a:r>
                        <a:rPr sz="1950" b="0">
                          <a:solidFill>
                            <a:srgbClr val="152D3A"/>
                          </a:solidFill>
                          <a:latin typeface="Arial"/>
                          <a:ea typeface="Arial"/>
                          <a:cs typeface="Arial"/>
                        </a:rPr>
                        <a:t>Ausgewählte Textstellen im Kontext</a:t>
                      </a:r>
                    </a:p>
                  </a:txBody>
                  <a:tcPr marL="91440" marR="91440" marT="45720" marB="45720">
                    <a:solidFill>
                      <a:srgbClr val="FFFFFF"/>
                    </a:solidFill>
                  </a:tcPr>
                </a:tc>
                <a:tc>
                  <a:txBody>
                    <a:bodyPr/>
                    <a:lstStyle/>
                    <a:p>
                      <a:r>
                        <a:rPr sz="1950" b="0">
                          <a:solidFill>
                            <a:srgbClr val="152D3A"/>
                          </a:solidFill>
                          <a:latin typeface="Arial"/>
                          <a:ea typeface="Arial"/>
                          <a:cs typeface="Arial"/>
                        </a:rPr>
                        <a:t>Aufbereitung, Index und Suche</a:t>
                      </a:r>
                    </a:p>
                  </a:txBody>
                  <a:tcPr marL="91440" marR="91440" marT="45720" marB="45720">
                    <a:solidFill>
                      <a:srgbClr val="FFFFFF"/>
                    </a:solidFill>
                  </a:tcPr>
                </a:tc>
              </a:tr>
              <a:tr h="833438">
                <a:tc>
                  <a:txBody>
                    <a:bodyPr/>
                    <a:lstStyle/>
                    <a:p>
                      <a:r>
                        <a:rPr sz="1950" b="0">
                          <a:solidFill>
                            <a:srgbClr val="152D3A"/>
                          </a:solidFill>
                          <a:latin typeface="Arial"/>
                          <a:ea typeface="Arial"/>
                          <a:cs typeface="Arial"/>
                        </a:rPr>
                        <a:t>Fine-Tuning</a:t>
                      </a:r>
                    </a:p>
                  </a:txBody>
                  <a:tcPr marL="91440" marR="91440" marT="45720" marB="45720">
                    <a:solidFill>
                      <a:srgbClr val="FFFFFF"/>
                    </a:solidFill>
                  </a:tcPr>
                </a:tc>
                <a:tc>
                  <a:txBody>
                    <a:bodyPr/>
                    <a:lstStyle/>
                    <a:p>
                      <a:r>
                        <a:rPr sz="1950" b="0">
                          <a:solidFill>
                            <a:srgbClr val="152D3A"/>
                          </a:solidFill>
                          <a:latin typeface="Arial"/>
                          <a:ea typeface="Arial"/>
                          <a:cs typeface="Arial"/>
                        </a:rPr>
                        <a:t>Anpassung der Modellgewichte</a:t>
                      </a:r>
                    </a:p>
                  </a:txBody>
                  <a:tcPr marL="91440" marR="91440" marT="45720" marB="45720">
                    <a:solidFill>
                      <a:srgbClr val="FFFFFF"/>
                    </a:solidFill>
                  </a:tcPr>
                </a:tc>
                <a:tc>
                  <a:txBody>
                    <a:bodyPr/>
                    <a:lstStyle/>
                    <a:p>
                      <a:r>
                        <a:rPr sz="1950" b="0">
                          <a:solidFill>
                            <a:srgbClr val="152D3A"/>
                          </a:solidFill>
                          <a:latin typeface="Arial"/>
                          <a:ea typeface="Arial"/>
                          <a:cs typeface="Arial"/>
                        </a:rPr>
                        <a:t>Trainingsdaten und Trainingslauf</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51AE36C-E690-4E95-8BC4-F90A9D75F996}"/>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In dieser Fallstudie erfolgt die fachliche Aktualisierung über die Anleitung und ihre Indizes.</a:t>
            </a:r>
          </a:p>
        </p:txBody>
      </p:sp>
    </p:spTree>
    <p:extLst>
      <p:ext uri="{BB962C8B-B14F-4D97-AF65-F5344CB8AC3E}">
        <p14:creationId xmlns:p14="http://schemas.microsoft.com/office/powerpoint/2010/main" val="383028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CF47D2B-072F-4D88-8E8E-3D9068BB732A}"/>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Zwei Phasen der RAG-Pipeline</a:t>
            </a:r>
          </a:p>
        </p:txBody>
      </p:sp>
      <p:sp>
        <p:nvSpPr>
          <p:cNvPr id="2" name="">
            <a:extLst xmlns:a="http://schemas.openxmlformats.org/drawingml/2006/main">
              <a:ext uri="{FF2B5EF4-FFF2-40B4-BE49-F238E27FC236}">
                <a16:creationId xmlns:a16="http://schemas.microsoft.com/office/drawing/2014/main" id="{E7898019-E1F5-4CDA-BF47-45CADC1DA457}"/>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5940DCCE-CEC7-4267-B2C8-43A06277FAEA}"/>
              </a:ext>
            </a:extLst>
          </p:cNvPr>
          <p:cNvSpPr>
            <a:spLocks xmlns:a="http://schemas.openxmlformats.org/drawingml/2006/main" noGrp="1"/>
          </p:cNvSpPr>
          <p:nvPr/>
        </p:nvSpPr>
        <p:spPr>
          <a:xfrm xmlns:a="http://schemas.openxmlformats.org/drawingml/2006/main">
            <a:off x="609600" y="15240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007B83"/>
                </a:solidFill>
                <a:latin typeface="Arial"/>
                <a:ea typeface="Arial"/>
                <a:cs typeface="Arial"/>
              </a:defRPr>
            </a:pPr>
            <a:r>
              <a:rPr sz="2100" b="1">
                <a:solidFill>
                  <a:srgbClr val="007B83"/>
                </a:solidFill>
                <a:latin typeface="Arial"/>
                <a:ea typeface="Arial"/>
                <a:cs typeface="Arial"/>
              </a:rPr>
              <a:t>Aufbereitung bei geänderter Anleitung</a:t>
            </a:r>
          </a:p>
        </p:txBody>
      </p:sp>
      <p:sp>
        <p:nvSpPr>
          <p:cNvPr id="4" name="">
            <a:extLst xmlns:a="http://schemas.openxmlformats.org/drawingml/2006/main">
              <a:ext uri="{FF2B5EF4-FFF2-40B4-BE49-F238E27FC236}">
                <a16:creationId xmlns:a16="http://schemas.microsoft.com/office/drawing/2014/main" id="{5ADE2035-5249-44F5-9959-0DFD41D6F567}"/>
              </a:ext>
            </a:extLst>
          </p:cNvPr>
          <p:cNvSpPr>
            <a:spLocks xmlns:a="http://schemas.openxmlformats.org/drawingml/2006/main" noGrp="1"/>
          </p:cNvSpPr>
          <p:nvPr/>
        </p:nvSpPr>
        <p:spPr>
          <a:xfrm xmlns:a="http://schemas.openxmlformats.org/drawingml/2006/main">
            <a:off x="609600" y="2143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PDF</a:t>
            </a:r>
          </a:p>
        </p:txBody>
      </p:sp>
      <p:sp>
        <p:nvSpPr>
          <p:cNvPr id="5" name="">
            <a:extLst xmlns:a="http://schemas.openxmlformats.org/drawingml/2006/main">
              <a:ext uri="{FF2B5EF4-FFF2-40B4-BE49-F238E27FC236}">
                <a16:creationId xmlns:a16="http://schemas.microsoft.com/office/drawing/2014/main" id="{D01C91E5-7323-4BD2-9F9B-79D4E1D60CEE}"/>
              </a:ext>
            </a:extLst>
          </p:cNvPr>
          <p:cNvSpPr>
            <a:spLocks xmlns:a="http://schemas.openxmlformats.org/drawingml/2006/main" noGrp="1"/>
          </p:cNvSpPr>
          <p:nvPr/>
        </p:nvSpPr>
        <p:spPr>
          <a:xfrm xmlns:a="http://schemas.openxmlformats.org/drawingml/2006/main">
            <a:off x="3448050" y="2143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Docling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Markdown</a:t>
            </a:r>
          </a:p>
        </p:txBody>
      </p:sp>
      <p:sp>
        <p:nvSpPr>
          <p:cNvPr id="6" name="">
            <a:extLst xmlns:a="http://schemas.openxmlformats.org/drawingml/2006/main">
              <a:ext uri="{FF2B5EF4-FFF2-40B4-BE49-F238E27FC236}">
                <a16:creationId xmlns:a16="http://schemas.microsoft.com/office/drawing/2014/main" id="{B5830A98-5D75-41CC-9FD8-6A93D2CF9381}"/>
              </a:ext>
            </a:extLst>
          </p:cNvPr>
          <p:cNvSpPr>
            <a:spLocks xmlns:a="http://schemas.openxmlformats.org/drawingml/2006/main" noGrp="1"/>
          </p:cNvSpPr>
          <p:nvPr/>
        </p:nvSpPr>
        <p:spPr>
          <a:xfrm xmlns:a="http://schemas.openxmlformats.org/drawingml/2006/main">
            <a:off x="6286500" y="2143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Textabschnitte</a:t>
            </a:r>
          </a:p>
        </p:txBody>
      </p:sp>
      <p:sp>
        <p:nvSpPr>
          <p:cNvPr id="7" name="">
            <a:extLst xmlns:a="http://schemas.openxmlformats.org/drawingml/2006/main">
              <a:ext uri="{FF2B5EF4-FFF2-40B4-BE49-F238E27FC236}">
                <a16:creationId xmlns:a16="http://schemas.microsoft.com/office/drawing/2014/main" id="{05F1D3CA-CFCC-46F0-9CA2-26AB70E3E39C}"/>
              </a:ext>
            </a:extLst>
          </p:cNvPr>
          <p:cNvSpPr>
            <a:spLocks xmlns:a="http://schemas.openxmlformats.org/drawingml/2006/main" noGrp="1"/>
          </p:cNvSpPr>
          <p:nvPr/>
        </p:nvSpPr>
        <p:spPr>
          <a:xfrm xmlns:a="http://schemas.openxmlformats.org/drawingml/2006/main">
            <a:off x="9124950" y="2143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Embeddings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und Index</a:t>
            </a:r>
          </a:p>
        </p:txBody>
      </p:sp>
      <p:cxnSp>
        <p:nvCxnSpPr>
          <p:cNvPr id="26" name=""/>
          <p:cNvCxnSpPr>
            <a:stCxn xmlns:a="http://schemas.openxmlformats.org/drawingml/2006/main" id="4" idx="3"/>
            <a:endCxn xmlns:a="http://schemas.openxmlformats.org/drawingml/2006/main" id="5" idx="1"/>
          </p:cNvCxnSpPr>
          <p:nvPr/>
        </p:nvCxnSpPr>
        <p:spPr>
          <a:xfrm xmlns:a="http://schemas.openxmlformats.org/drawingml/2006/main">
            <a:off x="3067050" y="2690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7" name=""/>
          <p:cNvCxnSpPr>
            <a:stCxn xmlns:a="http://schemas.openxmlformats.org/drawingml/2006/main" id="5" idx="3"/>
            <a:endCxn xmlns:a="http://schemas.openxmlformats.org/drawingml/2006/main" id="6" idx="1"/>
          </p:cNvCxnSpPr>
          <p:nvPr/>
        </p:nvCxnSpPr>
        <p:spPr>
          <a:xfrm xmlns:a="http://schemas.openxmlformats.org/drawingml/2006/main">
            <a:off x="5905500" y="2690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8743950" y="2690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1" name="">
            <a:extLst xmlns:a="http://schemas.openxmlformats.org/drawingml/2006/main">
              <a:ext uri="{FF2B5EF4-FFF2-40B4-BE49-F238E27FC236}">
                <a16:creationId xmlns:a16="http://schemas.microsoft.com/office/drawing/2014/main" id="{9B5A12AA-F1C3-4AEC-9453-141812CEC1FE}"/>
              </a:ext>
            </a:extLst>
          </p:cNvPr>
          <p:cNvSpPr>
            <a:spLocks xmlns:a="http://schemas.openxmlformats.org/drawingml/2006/main" noGrp="1"/>
          </p:cNvSpPr>
          <p:nvPr/>
        </p:nvSpPr>
        <p:spPr>
          <a:xfrm xmlns:a="http://schemas.openxmlformats.org/drawingml/2006/main">
            <a:off x="609600" y="368617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007B83"/>
                </a:solidFill>
                <a:latin typeface="Arial"/>
                <a:ea typeface="Arial"/>
                <a:cs typeface="Arial"/>
              </a:defRPr>
            </a:pPr>
            <a:r>
              <a:rPr sz="2100" b="1">
                <a:solidFill>
                  <a:srgbClr val="007B83"/>
                </a:solidFill>
                <a:latin typeface="Arial"/>
                <a:ea typeface="Arial"/>
                <a:cs typeface="Arial"/>
              </a:rPr>
              <a:t>Bearbeitung jeder Frage</a:t>
            </a:r>
          </a:p>
        </p:txBody>
      </p:sp>
      <p:sp>
        <p:nvSpPr>
          <p:cNvPr id="12" name="">
            <a:extLst xmlns:a="http://schemas.openxmlformats.org/drawingml/2006/main">
              <a:ext uri="{FF2B5EF4-FFF2-40B4-BE49-F238E27FC236}">
                <a16:creationId xmlns:a16="http://schemas.microsoft.com/office/drawing/2014/main" id="{44997306-C489-4182-9308-F44FB363A37A}"/>
              </a:ext>
            </a:extLst>
          </p:cNvPr>
          <p:cNvSpPr>
            <a:spLocks xmlns:a="http://schemas.openxmlformats.org/drawingml/2006/main" noGrp="1"/>
          </p:cNvSpPr>
          <p:nvPr/>
        </p:nvSpPr>
        <p:spPr>
          <a:xfrm xmlns:a="http://schemas.openxmlformats.org/drawingml/2006/main">
            <a:off x="609600" y="4267200"/>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a:t>
            </a:r>
          </a:p>
        </p:txBody>
      </p:sp>
      <p:sp>
        <p:nvSpPr>
          <p:cNvPr id="13" name="">
            <a:extLst xmlns:a="http://schemas.openxmlformats.org/drawingml/2006/main">
              <a:ext uri="{FF2B5EF4-FFF2-40B4-BE49-F238E27FC236}">
                <a16:creationId xmlns:a16="http://schemas.microsoft.com/office/drawing/2014/main" id="{2F4C4DFD-21EC-4B93-B9C0-E47449C8BDE3}"/>
              </a:ext>
            </a:extLst>
          </p:cNvPr>
          <p:cNvSpPr>
            <a:spLocks xmlns:a="http://schemas.openxmlformats.org/drawingml/2006/main" noGrp="1"/>
          </p:cNvSpPr>
          <p:nvPr/>
        </p:nvSpPr>
        <p:spPr>
          <a:xfrm xmlns:a="http://schemas.openxmlformats.org/drawingml/2006/main">
            <a:off x="3448050" y="4267200"/>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Suche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Reranking</a:t>
            </a:r>
          </a:p>
        </p:txBody>
      </p:sp>
      <p:sp>
        <p:nvSpPr>
          <p:cNvPr id="14" name="">
            <a:extLst xmlns:a="http://schemas.openxmlformats.org/drawingml/2006/main">
              <a:ext uri="{FF2B5EF4-FFF2-40B4-BE49-F238E27FC236}">
                <a16:creationId xmlns:a16="http://schemas.microsoft.com/office/drawing/2014/main" id="{CFA36E25-E6A3-4833-8904-094A3ADDE246}"/>
              </a:ext>
            </a:extLst>
          </p:cNvPr>
          <p:cNvSpPr>
            <a:spLocks xmlns:a="http://schemas.openxmlformats.org/drawingml/2006/main" noGrp="1"/>
          </p:cNvSpPr>
          <p:nvPr/>
        </p:nvSpPr>
        <p:spPr>
          <a:xfrm xmlns:a="http://schemas.openxmlformats.org/drawingml/2006/main">
            <a:off x="6286500" y="4267200"/>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Kontextprüfung</a:t>
            </a:r>
          </a:p>
        </p:txBody>
      </p:sp>
      <p:sp>
        <p:nvSpPr>
          <p:cNvPr id="15" name="">
            <a:extLst xmlns:a="http://schemas.openxmlformats.org/drawingml/2006/main">
              <a:ext uri="{FF2B5EF4-FFF2-40B4-BE49-F238E27FC236}">
                <a16:creationId xmlns:a16="http://schemas.microsoft.com/office/drawing/2014/main" id="{DEA4E9BF-509F-4EC3-95EE-E0117A46FBB5}"/>
              </a:ext>
            </a:extLst>
          </p:cNvPr>
          <p:cNvSpPr>
            <a:spLocks xmlns:a="http://schemas.openxmlformats.org/drawingml/2006/main" noGrp="1"/>
          </p:cNvSpPr>
          <p:nvPr/>
        </p:nvSpPr>
        <p:spPr>
          <a:xfrm xmlns:a="http://schemas.openxmlformats.org/drawingml/2006/main">
            <a:off x="9124950" y="4267200"/>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LLM-Antwort</a:t>
            </a:r>
          </a:p>
        </p:txBody>
      </p:sp>
      <p:cxnSp>
        <p:nvCxnSpPr>
          <p:cNvPr id="34" name=""/>
          <p:cNvCxnSpPr>
            <a:stCxn xmlns:a="http://schemas.openxmlformats.org/drawingml/2006/main" id="12" idx="3"/>
            <a:endCxn xmlns:a="http://schemas.openxmlformats.org/drawingml/2006/main" id="13" idx="1"/>
          </p:cNvCxnSpPr>
          <p:nvPr/>
        </p:nvCxnSpPr>
        <p:spPr>
          <a:xfrm xmlns:a="http://schemas.openxmlformats.org/drawingml/2006/main">
            <a:off x="3067050" y="4814888"/>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35" name=""/>
          <p:cNvCxnSpPr>
            <a:stCxn xmlns:a="http://schemas.openxmlformats.org/drawingml/2006/main" id="13" idx="3"/>
            <a:endCxn xmlns:a="http://schemas.openxmlformats.org/drawingml/2006/main" id="14" idx="1"/>
          </p:cNvCxnSpPr>
          <p:nvPr/>
        </p:nvCxnSpPr>
        <p:spPr>
          <a:xfrm xmlns:a="http://schemas.openxmlformats.org/drawingml/2006/main">
            <a:off x="5905500" y="4814888"/>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36" name=""/>
          <p:cNvCxnSpPr>
            <a:stCxn xmlns:a="http://schemas.openxmlformats.org/drawingml/2006/main" id="14" idx="3"/>
            <a:endCxn xmlns:a="http://schemas.openxmlformats.org/drawingml/2006/main" id="15" idx="1"/>
          </p:cNvCxnSpPr>
          <p:nvPr/>
        </p:nvCxnSpPr>
        <p:spPr>
          <a:xfrm xmlns:a="http://schemas.openxmlformats.org/drawingml/2006/main">
            <a:off x="8743950" y="4814888"/>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Tree>
    <p:extLst>
      <p:ext uri="{BB962C8B-B14F-4D97-AF65-F5344CB8AC3E}">
        <p14:creationId xmlns:p14="http://schemas.microsoft.com/office/powerpoint/2010/main" val="16764739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4AB7D22-C0C1-45A9-9129-186B4A08D51E}"/>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Was im Repository tatsächlich gespeichert ist</a:t>
            </a:r>
          </a:p>
        </p:txBody>
      </p:sp>
      <p:sp>
        <p:nvSpPr>
          <p:cNvPr id="2" name="">
            <a:extLst xmlns:a="http://schemas.openxmlformats.org/drawingml/2006/main">
              <a:ext uri="{FF2B5EF4-FFF2-40B4-BE49-F238E27FC236}">
                <a16:creationId xmlns:a16="http://schemas.microsoft.com/office/drawing/2014/main" id="{C8478774-856F-401A-9253-0D4F9F3F29AA}"/>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06</a:t>
            </a:r>
          </a:p>
        </p:txBody>
      </p:sp>
      <p:graphicFrame>
        <p:nvGraphicFramePr>
          <p:cNvPr id="7" name=""/>
          <p:cNvGraphicFramePr/>
          <p:nvPr/>
        </p:nvGraphicFramePr>
        <p:xfrm>
          <a:off xmlns:a="http://schemas.openxmlformats.org/drawingml/2006/main" x="609600" y="1619250"/>
          <a:ext xmlns:a="http://schemas.openxmlformats.org/drawingml/2006/main" cx="10972800" cy="3667125"/>
        </p:xfrm>
        <a:graphic xmlns:a="http://schemas.openxmlformats.org/drawingml/2006/main">
          <a:graphicData uri="http://schemas.openxmlformats.org/drawingml/2006/table">
            <a:tbl>
              <a:tblPr/>
              <a:tblGrid>
                <a:gridCol w="3429000"/>
                <a:gridCol w="3857625"/>
                <a:gridCol w="3686175"/>
              </a:tblGrid>
              <a:tr h="733425">
                <a:tc>
                  <a:txBody>
                    <a:bodyPr/>
                    <a:lstStyle/>
                    <a:p>
                      <a:r>
                        <a:rPr sz="1875" b="1">
                          <a:solidFill>
                            <a:srgbClr val="152D3A"/>
                          </a:solidFill>
                          <a:latin typeface="Arial"/>
                          <a:ea typeface="Arial"/>
                          <a:cs typeface="Arial"/>
                        </a:rPr>
                        <a:t>Datei / Ordner</a:t>
                      </a:r>
                    </a:p>
                  </a:txBody>
                  <a:tcPr marL="91440" marR="91440" marT="45720" marB="45720">
                    <a:solidFill>
                      <a:srgbClr val="EDF6F6"/>
                    </a:solidFill>
                  </a:tcPr>
                </a:tc>
                <a:tc>
                  <a:txBody>
                    <a:bodyPr/>
                    <a:lstStyle/>
                    <a:p>
                      <a:r>
                        <a:rPr sz="1875" b="1">
                          <a:solidFill>
                            <a:srgbClr val="152D3A"/>
                          </a:solidFill>
                          <a:latin typeface="Arial"/>
                          <a:ea typeface="Arial"/>
                          <a:cs typeface="Arial"/>
                        </a:rPr>
                        <a:t>Inhalt</a:t>
                      </a:r>
                    </a:p>
                  </a:txBody>
                  <a:tcPr marL="91440" marR="91440" marT="45720" marB="45720">
                    <a:solidFill>
                      <a:srgbClr val="EDF6F6"/>
                    </a:solidFill>
                  </a:tcPr>
                </a:tc>
                <a:tc>
                  <a:txBody>
                    <a:bodyPr/>
                    <a:lstStyle/>
                    <a:p>
                      <a:r>
                        <a:rPr sz="1875" b="1">
                          <a:solidFill>
                            <a:srgbClr val="152D3A"/>
                          </a:solidFill>
                          <a:latin typeface="Arial"/>
                          <a:ea typeface="Arial"/>
                          <a:cs typeface="Arial"/>
                        </a:rPr>
                        <a:t>Verwendung</a:t>
                      </a:r>
                    </a:p>
                  </a:txBody>
                  <a:tcPr marL="91440" marR="91440" marT="45720" marB="45720">
                    <a:solidFill>
                      <a:srgbClr val="EDF6F6"/>
                    </a:solidFill>
                  </a:tcPr>
                </a:tc>
              </a:tr>
              <a:tr h="733425">
                <a:tc>
                  <a:txBody>
                    <a:bodyPr/>
                    <a:lstStyle/>
                    <a:p>
                      <a:r>
                        <a:rPr sz="1875" b="0">
                          <a:solidFill>
                            <a:srgbClr val="152D3A"/>
                          </a:solidFill>
                          <a:latin typeface="Arial"/>
                          <a:ea typeface="Arial"/>
                          <a:cs typeface="Arial"/>
                        </a:rPr>
                        <a:t>siemens-handbuch.pdf</a:t>
                      </a:r>
                    </a:p>
                  </a:txBody>
                  <a:tcPr marL="91440" marR="91440" marT="45720" marB="45720">
                    <a:solidFill>
                      <a:srgbClr val="FFFFFF"/>
                    </a:solidFill>
                  </a:tcPr>
                </a:tc>
                <a:tc>
                  <a:txBody>
                    <a:bodyPr/>
                    <a:lstStyle/>
                    <a:p>
                      <a:r>
                        <a:rPr sz="1875" b="0">
                          <a:solidFill>
                            <a:srgbClr val="152D3A"/>
                          </a:solidFill>
                          <a:latin typeface="Arial"/>
                          <a:ea typeface="Arial"/>
                          <a:cs typeface="Arial"/>
                        </a:rPr>
                        <a:t>48-seitige Originalanleitung</a:t>
                      </a:r>
                    </a:p>
                  </a:txBody>
                  <a:tcPr marL="91440" marR="91440" marT="45720" marB="45720">
                    <a:solidFill>
                      <a:srgbClr val="FFFFFF"/>
                    </a:solidFill>
                  </a:tcPr>
                </a:tc>
                <a:tc>
                  <a:txBody>
                    <a:bodyPr/>
                    <a:lstStyle/>
                    <a:p>
                      <a:r>
                        <a:rPr sz="1875" b="0">
                          <a:solidFill>
                            <a:srgbClr val="152D3A"/>
                          </a:solidFill>
                          <a:latin typeface="Arial"/>
                          <a:ea typeface="Arial"/>
                          <a:cs typeface="Arial"/>
                        </a:rPr>
                        <a:t>Referenz</a:t>
                      </a:r>
                    </a:p>
                  </a:txBody>
                  <a:tcPr marL="91440" marR="91440" marT="45720" marB="45720">
                    <a:solidFill>
                      <a:srgbClr val="FFFFFF"/>
                    </a:solidFill>
                  </a:tcPr>
                </a:tc>
              </a:tr>
              <a:tr h="733425">
                <a:tc>
                  <a:txBody>
                    <a:bodyPr/>
                    <a:lstStyle/>
                    <a:p>
                      <a:r>
                        <a:rPr sz="1875" b="0">
                          <a:solidFill>
                            <a:srgbClr val="152D3A"/>
                          </a:solidFill>
                          <a:latin typeface="Arial"/>
                          <a:ea typeface="Arial"/>
                          <a:cs typeface="Arial"/>
                        </a:rPr>
                        <a:t>siemens_wissen.md</a:t>
                      </a:r>
                    </a:p>
                  </a:txBody>
                  <a:tcPr marL="91440" marR="91440" marT="45720" marB="45720">
                    <a:solidFill>
                      <a:srgbClr val="FFFFFF"/>
                    </a:solidFill>
                  </a:tcPr>
                </a:tc>
                <a:tc>
                  <a:txBody>
                    <a:bodyPr/>
                    <a:lstStyle/>
                    <a:p>
                      <a:r>
                        <a:rPr sz="1875" b="0">
                          <a:solidFill>
                            <a:srgbClr val="152D3A"/>
                          </a:solidFill>
                          <a:latin typeface="Arial"/>
                          <a:ea typeface="Arial"/>
                          <a:cs typeface="Arial"/>
                        </a:rPr>
                        <a:t>Strukturiert extrahierter Text</a:t>
                      </a:r>
                    </a:p>
                  </a:txBody>
                  <a:tcPr marL="91440" marR="91440" marT="45720" marB="45720">
                    <a:solidFill>
                      <a:srgbClr val="FFFFFF"/>
                    </a:solidFill>
                  </a:tcPr>
                </a:tc>
                <a:tc>
                  <a:txBody>
                    <a:bodyPr/>
                    <a:lstStyle/>
                    <a:p>
                      <a:r>
                        <a:rPr sz="1875" b="0">
                          <a:solidFill>
                            <a:srgbClr val="152D3A"/>
                          </a:solidFill>
                          <a:latin typeface="Arial"/>
                          <a:ea typeface="Arial"/>
                          <a:cs typeface="Arial"/>
                        </a:rPr>
                        <a:t>Quelle des Retrievals</a:t>
                      </a:r>
                    </a:p>
                  </a:txBody>
                  <a:tcPr marL="91440" marR="91440" marT="45720" marB="45720">
                    <a:solidFill>
                      <a:srgbClr val="FFFFFF"/>
                    </a:solidFill>
                  </a:tcPr>
                </a:tc>
              </a:tr>
              <a:tr h="733425">
                <a:tc>
                  <a:txBody>
                    <a:bodyPr/>
                    <a:lstStyle/>
                    <a:p>
                      <a:r>
                        <a:rPr sz="1875" b="0">
                          <a:solidFill>
                            <a:srgbClr val="152D3A"/>
                          </a:solidFill>
                          <a:latin typeface="Arial"/>
                          <a:ea typeface="Arial"/>
                          <a:cs typeface="Arial"/>
                        </a:rPr>
                        <a:t>storage/</a:t>
                      </a:r>
                    </a:p>
                  </a:txBody>
                  <a:tcPr marL="91440" marR="91440" marT="45720" marB="45720">
                    <a:solidFill>
                      <a:srgbClr val="FFFFFF"/>
                    </a:solidFill>
                  </a:tcPr>
                </a:tc>
                <a:tc>
                  <a:txBody>
                    <a:bodyPr/>
                    <a:lstStyle/>
                    <a:p>
                      <a:r>
                        <a:rPr sz="1875" b="0">
                          <a:solidFill>
                            <a:srgbClr val="152D3A"/>
                          </a:solidFill>
                          <a:latin typeface="Arial"/>
                          <a:ea typeface="Arial"/>
                          <a:cs typeface="Arial"/>
                        </a:rPr>
                        <a:t>Vektoren, Nodes, Index-Metadaten</a:t>
                      </a:r>
                    </a:p>
                  </a:txBody>
                  <a:tcPr marL="91440" marR="91440" marT="45720" marB="45720">
                    <a:solidFill>
                      <a:srgbClr val="FFFFFF"/>
                    </a:solidFill>
                  </a:tcPr>
                </a:tc>
                <a:tc>
                  <a:txBody>
                    <a:bodyPr/>
                    <a:lstStyle/>
                    <a:p>
                      <a:r>
                        <a:rPr sz="1875" b="0">
                          <a:solidFill>
                            <a:srgbClr val="152D3A"/>
                          </a:solidFill>
                          <a:latin typeface="Arial"/>
                          <a:ea typeface="Arial"/>
                          <a:cs typeface="Arial"/>
                        </a:rPr>
                        <a:t>LlamaIndex-Suche</a:t>
                      </a:r>
                    </a:p>
                  </a:txBody>
                  <a:tcPr marL="91440" marR="91440" marT="45720" marB="45720">
                    <a:solidFill>
                      <a:srgbClr val="FFFFFF"/>
                    </a:solidFill>
                  </a:tcPr>
                </a:tc>
              </a:tr>
              <a:tr h="733425">
                <a:tc>
                  <a:txBody>
                    <a:bodyPr/>
                    <a:lstStyle/>
                    <a:p>
                      <a:r>
                        <a:rPr sz="1875" b="0">
                          <a:solidFill>
                            <a:srgbClr val="152D3A"/>
                          </a:solidFill>
                          <a:latin typeface="Arial"/>
                          <a:ea typeface="Arial"/>
                          <a:cs typeface="Arial"/>
                        </a:rPr>
                        <a:t>pageindex_tree.json</a:t>
                      </a:r>
                    </a:p>
                  </a:txBody>
                  <a:tcPr marL="91440" marR="91440" marT="45720" marB="45720">
                    <a:solidFill>
                      <a:srgbClr val="FFFFFF"/>
                    </a:solidFill>
                  </a:tcPr>
                </a:tc>
                <a:tc>
                  <a:txBody>
                    <a:bodyPr/>
                    <a:lstStyle/>
                    <a:p>
                      <a:r>
                        <a:rPr sz="1875" b="0">
                          <a:solidFill>
                            <a:srgbClr val="152D3A"/>
                          </a:solidFill>
                          <a:latin typeface="Arial"/>
                          <a:ea typeface="Arial"/>
                          <a:cs typeface="Arial"/>
                        </a:rPr>
                        <a:t>187 Abschnitte und Quellhash</a:t>
                      </a:r>
                    </a:p>
                  </a:txBody>
                  <a:tcPr marL="91440" marR="91440" marT="45720" marB="45720">
                    <a:solidFill>
                      <a:srgbClr val="FFFFFF"/>
                    </a:solidFill>
                  </a:tcPr>
                </a:tc>
                <a:tc>
                  <a:txBody>
                    <a:bodyPr/>
                    <a:lstStyle/>
                    <a:p>
                      <a:r>
                        <a:rPr sz="1875" b="0">
                          <a:solidFill>
                            <a:srgbClr val="152D3A"/>
                          </a:solidFill>
                          <a:latin typeface="Arial"/>
                          <a:ea typeface="Arial"/>
                          <a:cs typeface="Arial"/>
                        </a:rPr>
                        <a:t>LLM-Auswahl von Abschnitten</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1AD8269-A487-4B45-9A51-9CB571A806C6}"/>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Ein lokaler Dateispeicher genügt für diese einzelne Anleitung.</a:t>
            </a:r>
          </a:p>
        </p:txBody>
      </p:sp>
    </p:spTree>
    <p:extLst>
      <p:ext uri="{BB962C8B-B14F-4D97-AF65-F5344CB8AC3E}">
        <p14:creationId xmlns:p14="http://schemas.microsoft.com/office/powerpoint/2010/main" val="123698567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03BC7F-60C1-43A0-95F4-272DF4A46753}"/>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Dokumentenaufbereitung mit Docling</a:t>
            </a:r>
          </a:p>
        </p:txBody>
      </p:sp>
      <p:sp>
        <p:nvSpPr>
          <p:cNvPr id="2" name="">
            <a:extLst xmlns:a="http://schemas.openxmlformats.org/drawingml/2006/main">
              <a:ext uri="{FF2B5EF4-FFF2-40B4-BE49-F238E27FC236}">
                <a16:creationId xmlns:a16="http://schemas.microsoft.com/office/drawing/2014/main" id="{D67B5687-87AD-4096-AE47-A4AA5A82A60F}"/>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6664F57D-8484-42C7-B16C-C0772037E2E7}"/>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PDF-Layout</a:t>
            </a:r>
          </a:p>
        </p:txBody>
      </p:sp>
      <p:sp>
        <p:nvSpPr>
          <p:cNvPr id="4" name="">
            <a:extLst xmlns:a="http://schemas.openxmlformats.org/drawingml/2006/main">
              <a:ext uri="{FF2B5EF4-FFF2-40B4-BE49-F238E27FC236}">
                <a16:creationId xmlns:a16="http://schemas.microsoft.com/office/drawing/2014/main" id="{A547D987-DE1E-40FC-9FC7-88293F85B43A}"/>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Texte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Tabellen</a:t>
            </a:r>
          </a:p>
        </p:txBody>
      </p:sp>
      <p:sp>
        <p:nvSpPr>
          <p:cNvPr id="5" name="">
            <a:extLst xmlns:a="http://schemas.openxmlformats.org/drawingml/2006/main">
              <a:ext uri="{FF2B5EF4-FFF2-40B4-BE49-F238E27FC236}">
                <a16:creationId xmlns:a16="http://schemas.microsoft.com/office/drawing/2014/main" id="{B60140C4-CB66-4321-93B7-4AF2AADD8470}"/>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Markdown mit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Seitenmarkern</a:t>
            </a:r>
          </a:p>
        </p:txBody>
      </p:sp>
      <p:sp>
        <p:nvSpPr>
          <p:cNvPr id="6" name="">
            <a:extLst xmlns:a="http://schemas.openxmlformats.org/drawingml/2006/main">
              <a:ext uri="{FF2B5EF4-FFF2-40B4-BE49-F238E27FC236}">
                <a16:creationId xmlns:a16="http://schemas.microsoft.com/office/drawing/2014/main" id="{0F2C85EF-51E1-42A0-81D5-F462BCCA1C3C}"/>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Prüfbare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Abschnitte</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E810A789-3160-498C-934B-B7D4769BBBA5}"/>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Prüfpunkte: Lesereihenfolge, Tabellenzeilen, Symbole, Warnhinweise und Seitenherkunft.</a:t>
            </a:r>
          </a:p>
        </p:txBody>
      </p:sp>
    </p:spTree>
    <p:extLst>
      <p:ext uri="{BB962C8B-B14F-4D97-AF65-F5344CB8AC3E}">
        <p14:creationId xmlns:p14="http://schemas.microsoft.com/office/powerpoint/2010/main" val="148641456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BCEF6E-6077-4F3D-8CDD-BD2237385503}"/>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Tabellen brauchen ihre eigene Chunking-Logik</a:t>
            </a:r>
          </a:p>
        </p:txBody>
      </p:sp>
      <p:sp>
        <p:nvSpPr>
          <p:cNvPr id="2" name="">
            <a:extLst xmlns:a="http://schemas.openxmlformats.org/drawingml/2006/main">
              <a:ext uri="{FF2B5EF4-FFF2-40B4-BE49-F238E27FC236}">
                <a16:creationId xmlns:a16="http://schemas.microsoft.com/office/drawing/2014/main" id="{B5B10586-2053-48EE-B53A-4B006AAC299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08</a:t>
            </a:r>
          </a:p>
        </p:txBody>
      </p:sp>
      <p:graphicFrame>
        <p:nvGraphicFramePr>
          <p:cNvPr id="14" name=""/>
          <p:cNvGraphicFramePr/>
          <p:nvPr/>
        </p:nvGraphicFramePr>
        <p:xfrm>
          <a:off xmlns:a="http://schemas.openxmlformats.org/drawingml/2006/main" x="609600" y="1619250"/>
          <a:ext xmlns:a="http://schemas.openxmlformats.org/drawingml/2006/main" cx="10972800" cy="2028825"/>
        </p:xfrm>
        <a:graphic xmlns:a="http://schemas.openxmlformats.org/drawingml/2006/main">
          <a:graphicData uri="http://schemas.openxmlformats.org/drawingml/2006/table">
            <a:tbl>
              <a:tblPr/>
              <a:tblGrid>
                <a:gridCol w="2571750"/>
                <a:gridCol w="8401050"/>
              </a:tblGrid>
              <a:tr h="676275">
                <a:tc>
                  <a:txBody>
                    <a:bodyPr/>
                    <a:lstStyle/>
                    <a:p>
                      <a:r>
                        <a:rPr sz="2025" b="1">
                          <a:solidFill>
                            <a:srgbClr val="152D3A"/>
                          </a:solidFill>
                          <a:latin typeface="Arial"/>
                          <a:ea typeface="Arial"/>
                          <a:cs typeface="Arial"/>
                        </a:rPr>
                        <a:t>Anzeige</a:t>
                      </a:r>
                    </a:p>
                  </a:txBody>
                  <a:tcPr marL="91440" marR="91440" marT="45720" marB="45720">
                    <a:solidFill>
                      <a:srgbClr val="EDF6F6"/>
                    </a:solidFill>
                  </a:tcPr>
                </a:tc>
                <a:tc>
                  <a:txBody>
                    <a:bodyPr/>
                    <a:lstStyle/>
                    <a:p>
                      <a:r>
                        <a:rPr sz="2025" b="1">
                          <a:solidFill>
                            <a:srgbClr val="152D3A"/>
                          </a:solidFill>
                          <a:latin typeface="Arial"/>
                          <a:ea typeface="Arial"/>
                          <a:cs typeface="Arial"/>
                        </a:rPr>
                        <a:t>Ursache / Abhilfe</a:t>
                      </a:r>
                    </a:p>
                  </a:txBody>
                  <a:tcPr marL="91440" marR="91440" marT="45720" marB="45720">
                    <a:solidFill>
                      <a:srgbClr val="EDF6F6"/>
                    </a:solidFill>
                  </a:tcPr>
                </a:tc>
              </a:tr>
              <a:tr h="676275">
                <a:tc>
                  <a:txBody>
                    <a:bodyPr/>
                    <a:lstStyle/>
                    <a:p>
                      <a:r>
                        <a:rPr sz="2025" b="0">
                          <a:solidFill>
                            <a:srgbClr val="152D3A"/>
                          </a:solidFill>
                          <a:latin typeface="Arial"/>
                          <a:ea typeface="Arial"/>
                          <a:cs typeface="Arial"/>
                        </a:rPr>
                        <a:t>E:18</a:t>
                      </a:r>
                    </a:p>
                  </a:txBody>
                  <a:tcPr marL="91440" marR="91440" marT="45720" marB="45720">
                    <a:solidFill>
                      <a:srgbClr val="FFFFFF"/>
                    </a:solidFill>
                  </a:tcPr>
                </a:tc>
                <a:tc>
                  <a:txBody>
                    <a:bodyPr/>
                    <a:lstStyle/>
                    <a:p>
                      <a:r>
                        <a:rPr sz="2025" b="0">
                          <a:solidFill>
                            <a:srgbClr val="152D3A"/>
                          </a:solidFill>
                          <a:latin typeface="Arial"/>
                          <a:ea typeface="Arial"/>
                          <a:cs typeface="Arial"/>
                        </a:rPr>
                        <a:t>Laugenpumpe oder Ablauf verstopft</a:t>
                      </a:r>
                    </a:p>
                  </a:txBody>
                  <a:tcPr marL="91440" marR="91440" marT="45720" marB="45720">
                    <a:solidFill>
                      <a:srgbClr val="FFFFFF"/>
                    </a:solidFill>
                  </a:tcPr>
                </a:tc>
              </a:tr>
              <a:tr h="676275">
                <a:tc>
                  <a:txBody>
                    <a:bodyPr/>
                    <a:lstStyle/>
                    <a:p>
                      <a:r>
                        <a:rPr sz="2025" b="0">
                          <a:solidFill>
                            <a:srgbClr val="152D3A"/>
                          </a:solidFill>
                          <a:latin typeface="Arial"/>
                          <a:ea typeface="Arial"/>
                          <a:cs typeface="Arial"/>
                        </a:rPr>
                        <a:t>E:23</a:t>
                      </a:r>
                    </a:p>
                  </a:txBody>
                  <a:tcPr marL="91440" marR="91440" marT="45720" marB="45720">
                    <a:solidFill>
                      <a:srgbClr val="FFFFFF"/>
                    </a:solidFill>
                  </a:tcPr>
                </a:tc>
                <a:tc>
                  <a:txBody>
                    <a:bodyPr/>
                    <a:lstStyle/>
                    <a:p>
                      <a:r>
                        <a:rPr sz="2025" b="0">
                          <a:solidFill>
                            <a:srgbClr val="152D3A"/>
                          </a:solidFill>
                          <a:latin typeface="Arial"/>
                          <a:ea typeface="Arial"/>
                          <a:cs typeface="Arial"/>
                        </a:rPr>
                        <a:t>Wasser in der Bodenwanne / Undichtigkeit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9E992956-6791-4A5E-AC7D-81132CE52D91}"/>
              </a:ext>
            </a:extLst>
          </p:cNvPr>
          <p:cNvSpPr>
            <a:spLocks xmlns:a="http://schemas.openxmlformats.org/drawingml/2006/main" noGrp="1"/>
          </p:cNvSpPr>
          <p:nvPr/>
        </p:nvSpPr>
        <p:spPr>
          <a:xfrm xmlns:a="http://schemas.openxmlformats.org/drawingml/2006/main">
            <a:off x="609600" y="4048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Überschrift</a:t>
            </a:r>
          </a:p>
        </p:txBody>
      </p:sp>
      <p:sp>
        <p:nvSpPr>
          <p:cNvPr id="5" name="">
            <a:extLst xmlns:a="http://schemas.openxmlformats.org/drawingml/2006/main">
              <a:ext uri="{FF2B5EF4-FFF2-40B4-BE49-F238E27FC236}">
                <a16:creationId xmlns:a16="http://schemas.microsoft.com/office/drawing/2014/main" id="{4012248E-1514-4ABA-A98D-F0A7C32EA2AA}"/>
              </a:ext>
            </a:extLst>
          </p:cNvPr>
          <p:cNvSpPr>
            <a:spLocks xmlns:a="http://schemas.openxmlformats.org/drawingml/2006/main" noGrp="1"/>
          </p:cNvSpPr>
          <p:nvPr/>
        </p:nvSpPr>
        <p:spPr>
          <a:xfrm xmlns:a="http://schemas.openxmlformats.org/drawingml/2006/main">
            <a:off x="3448050" y="4048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Spaltennamen</a:t>
            </a:r>
          </a:p>
        </p:txBody>
      </p:sp>
      <p:sp>
        <p:nvSpPr>
          <p:cNvPr id="6" name="">
            <a:extLst xmlns:a="http://schemas.openxmlformats.org/drawingml/2006/main">
              <a:ext uri="{FF2B5EF4-FFF2-40B4-BE49-F238E27FC236}">
                <a16:creationId xmlns:a16="http://schemas.microsoft.com/office/drawing/2014/main" id="{E735F0C7-D93D-48FD-B3DD-BA55807A077C}"/>
              </a:ext>
            </a:extLst>
          </p:cNvPr>
          <p:cNvSpPr>
            <a:spLocks xmlns:a="http://schemas.openxmlformats.org/drawingml/2006/main" noGrp="1"/>
          </p:cNvSpPr>
          <p:nvPr/>
        </p:nvSpPr>
        <p:spPr>
          <a:xfrm xmlns:a="http://schemas.openxmlformats.org/drawingml/2006/main">
            <a:off x="6286500" y="4048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Eine Datenzeile</a:t>
            </a:r>
          </a:p>
        </p:txBody>
      </p:sp>
      <p:sp>
        <p:nvSpPr>
          <p:cNvPr id="7" name="">
            <a:extLst xmlns:a="http://schemas.openxmlformats.org/drawingml/2006/main">
              <a:ext uri="{FF2B5EF4-FFF2-40B4-BE49-F238E27FC236}">
                <a16:creationId xmlns:a16="http://schemas.microsoft.com/office/drawing/2014/main" id="{220849C0-286F-4B62-B8F5-0F4E8F01F0B7}"/>
              </a:ext>
            </a:extLst>
          </p:cNvPr>
          <p:cNvSpPr>
            <a:spLocks xmlns:a="http://schemas.openxmlformats.org/drawingml/2006/main" noGrp="1"/>
          </p:cNvSpPr>
          <p:nvPr/>
        </p:nvSpPr>
        <p:spPr>
          <a:xfrm xmlns:a="http://schemas.openxmlformats.org/drawingml/2006/main">
            <a:off x="9124950" y="40481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Ein suchbarer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Abschnitt</a:t>
            </a:r>
          </a:p>
        </p:txBody>
      </p: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3067050" y="4595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5905500" y="4595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1" name=""/>
          <p:cNvCxnSpPr>
            <a:stCxn xmlns:a="http://schemas.openxmlformats.org/drawingml/2006/main" id="6" idx="3"/>
            <a:endCxn xmlns:a="http://schemas.openxmlformats.org/drawingml/2006/main" id="7" idx="1"/>
          </p:cNvCxnSpPr>
          <p:nvPr/>
        </p:nvCxnSpPr>
        <p:spPr>
          <a:xfrm xmlns:a="http://schemas.openxmlformats.org/drawingml/2006/main">
            <a:off x="8743950" y="45958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1" name="">
            <a:extLst xmlns:a="http://schemas.openxmlformats.org/drawingml/2006/main">
              <a:ext uri="{FF2B5EF4-FFF2-40B4-BE49-F238E27FC236}">
                <a16:creationId xmlns:a16="http://schemas.microsoft.com/office/drawing/2014/main" id="{DFD19B12-C45E-4D70-A20A-78AF8BA8920F}"/>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Die Beispiele verkürzen den Originaltext ausschließlich für die Darstellung.</a:t>
            </a:r>
          </a:p>
        </p:txBody>
      </p:sp>
    </p:spTree>
    <p:extLst>
      <p:ext uri="{BB962C8B-B14F-4D97-AF65-F5344CB8AC3E}">
        <p14:creationId xmlns:p14="http://schemas.microsoft.com/office/powerpoint/2010/main" val="80648147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2CE040-EDC9-4B63-BC69-F5EE3C8E9EC7}"/>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Chunkgröße und Tokenlimit</a:t>
            </a:r>
          </a:p>
        </p:txBody>
      </p:sp>
      <p:sp>
        <p:nvSpPr>
          <p:cNvPr id="2" name="">
            <a:extLst xmlns:a="http://schemas.openxmlformats.org/drawingml/2006/main">
              <a:ext uri="{FF2B5EF4-FFF2-40B4-BE49-F238E27FC236}">
                <a16:creationId xmlns:a16="http://schemas.microsoft.com/office/drawing/2014/main" id="{7B17593E-504A-452A-A86A-16121AA99F40}"/>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19473FAD-3034-474D-901B-DE8C6F161215}"/>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Zu groß</a:t>
            </a:r>
          </a:p>
        </p:txBody>
      </p:sp>
      <p:sp>
        <p:nvSpPr>
          <p:cNvPr id="4" name="">
            <a:extLst xmlns:a="http://schemas.openxmlformats.org/drawingml/2006/main">
              <a:ext uri="{FF2B5EF4-FFF2-40B4-BE49-F238E27FC236}">
                <a16:creationId xmlns:a16="http://schemas.microsoft.com/office/drawing/2014/main" id="{41C976B5-FBCE-4FE5-9AA9-BB1ABC2022F1}"/>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Das Modell schneidet Text ab. Wichtige Details fehlen im Vektor.</a:t>
            </a:r>
          </a:p>
        </p:txBody>
      </p:sp>
      <p:sp>
        <p:nvSpPr>
          <p:cNvPr id="5" name="">
            <a:extLst xmlns:a="http://schemas.openxmlformats.org/drawingml/2006/main">
              <a:ext uri="{FF2B5EF4-FFF2-40B4-BE49-F238E27FC236}">
                <a16:creationId xmlns:a16="http://schemas.microsoft.com/office/drawing/2014/main" id="{AB6F2050-E3D2-4C5B-804A-C90DF5BBC1C8}"/>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Zu klein</a:t>
            </a:r>
          </a:p>
        </p:txBody>
      </p:sp>
      <p:sp>
        <p:nvSpPr>
          <p:cNvPr id="6" name="">
            <a:extLst xmlns:a="http://schemas.openxmlformats.org/drawingml/2006/main">
              <a:ext uri="{FF2B5EF4-FFF2-40B4-BE49-F238E27FC236}">
                <a16:creationId xmlns:a16="http://schemas.microsoft.com/office/drawing/2014/main" id="{FBD550FE-A48E-45AA-A81F-21CC253FEA8D}"/>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Die Aussage verliert Überschrift, Bedingung oder Warnhinweis.</a:t>
            </a:r>
          </a:p>
        </p:txBody>
      </p:sp>
      <p:sp>
        <p:nvSpPr>
          <p:cNvPr id="7" name="">
            <a:extLst xmlns:a="http://schemas.openxmlformats.org/drawingml/2006/main">
              <a:ext uri="{FF2B5EF4-FFF2-40B4-BE49-F238E27FC236}">
                <a16:creationId xmlns:a16="http://schemas.microsoft.com/office/drawing/2014/main" id="{D306A06B-F566-4CA2-B326-CE33737CBA4F}"/>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Aktuelle Einstellung</a:t>
            </a:r>
          </a:p>
        </p:txBody>
      </p:sp>
      <p:sp>
        <p:nvSpPr>
          <p:cNvPr id="8" name="">
            <a:extLst xmlns:a="http://schemas.openxmlformats.org/drawingml/2006/main">
              <a:ext uri="{FF2B5EF4-FFF2-40B4-BE49-F238E27FC236}">
                <a16:creationId xmlns:a16="http://schemas.microsoft.com/office/drawing/2014/main" id="{9A1BC5E2-B7A2-4442-A12B-9628BDB45608}"/>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440 Tokens pro Chunk, 40 Tokens Überlappung.</a:t>
            </a:r>
          </a:p>
        </p:txBody>
      </p:sp>
      <p:sp>
        <p:nvSpPr>
          <p:cNvPr id="9" name="">
            <a:extLst xmlns:a="http://schemas.openxmlformats.org/drawingml/2006/main">
              <a:ext uri="{FF2B5EF4-FFF2-40B4-BE49-F238E27FC236}">
                <a16:creationId xmlns:a16="http://schemas.microsoft.com/office/drawing/2014/main" id="{A442FF96-7D17-4C4F-A06A-CE00C298FD35}"/>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Seitenherkunft</a:t>
            </a:r>
          </a:p>
        </p:txBody>
      </p:sp>
      <p:sp>
        <p:nvSpPr>
          <p:cNvPr id="10" name="">
            <a:extLst xmlns:a="http://schemas.openxmlformats.org/drawingml/2006/main">
              <a:ext uri="{FF2B5EF4-FFF2-40B4-BE49-F238E27FC236}">
                <a16:creationId xmlns:a16="http://schemas.microsoft.com/office/drawing/2014/main" id="{9C531708-F298-444A-B058-60AEFC3AEC21}"/>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Metadaten bleiben beim Zerlegen erhalten.</a:t>
            </a:r>
          </a:p>
        </p:txBody>
      </p:sp>
    </p:spTree>
    <p:extLst>
      <p:ext uri="{BB962C8B-B14F-4D97-AF65-F5344CB8AC3E}">
        <p14:creationId xmlns:p14="http://schemas.microsoft.com/office/powerpoint/2010/main" val="139447384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807BF17-C999-4580-BE5E-76574DE5A12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Embeddings: Text als Zahlenvektor</a:t>
            </a:r>
          </a:p>
        </p:txBody>
      </p:sp>
      <p:sp>
        <p:nvSpPr>
          <p:cNvPr id="2" name="">
            <a:extLst xmlns:a="http://schemas.openxmlformats.org/drawingml/2006/main">
              <a:ext uri="{FF2B5EF4-FFF2-40B4-BE49-F238E27FC236}">
                <a16:creationId xmlns:a16="http://schemas.microsoft.com/office/drawing/2014/main" id="{F0CE98C2-1161-46D6-B357-A1C513B93517}"/>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D4FC80A5-BF87-4417-AD38-50E151EA8DD1}"/>
              </a:ext>
            </a:extLst>
          </p:cNvPr>
          <p:cNvSpPr>
            <a:spLocks xmlns:a="http://schemas.openxmlformats.org/drawingml/2006/main" noGrp="1"/>
          </p:cNvSpPr>
          <p:nvPr/>
        </p:nvSpPr>
        <p:spPr>
          <a:xfrm xmlns:a="http://schemas.openxmlformats.org/drawingml/2006/main">
            <a:off x="609600" y="1847850"/>
            <a:ext cx="352425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 „E:18?“</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Präfix query:</a:t>
            </a:r>
          </a:p>
        </p:txBody>
      </p:sp>
      <p:sp>
        <p:nvSpPr>
          <p:cNvPr id="4" name="">
            <a:extLst xmlns:a="http://schemas.openxmlformats.org/drawingml/2006/main">
              <a:ext uri="{FF2B5EF4-FFF2-40B4-BE49-F238E27FC236}">
                <a16:creationId xmlns:a16="http://schemas.microsoft.com/office/drawing/2014/main" id="{B36C09A7-2282-4276-975C-698FDBE49ED1}"/>
              </a:ext>
            </a:extLst>
          </p:cNvPr>
          <p:cNvSpPr>
            <a:spLocks xmlns:a="http://schemas.openxmlformats.org/drawingml/2006/main" noGrp="1"/>
          </p:cNvSpPr>
          <p:nvPr/>
        </p:nvSpPr>
        <p:spPr>
          <a:xfrm xmlns:a="http://schemas.openxmlformats.org/drawingml/2006/main">
            <a:off x="4705350" y="2400300"/>
            <a:ext cx="2524125"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E5-Encoder</a:t>
            </a:r>
          </a:p>
        </p:txBody>
      </p:sp>
      <p:sp>
        <p:nvSpPr>
          <p:cNvPr id="5" name="">
            <a:extLst xmlns:a="http://schemas.openxmlformats.org/drawingml/2006/main">
              <a:ext uri="{FF2B5EF4-FFF2-40B4-BE49-F238E27FC236}">
                <a16:creationId xmlns:a16="http://schemas.microsoft.com/office/drawing/2014/main" id="{31DFF7BF-27A6-46A6-BD87-9677E382D5A6}"/>
              </a:ext>
            </a:extLst>
          </p:cNvPr>
          <p:cNvSpPr>
            <a:spLocks xmlns:a="http://schemas.openxmlformats.org/drawingml/2006/main" noGrp="1"/>
          </p:cNvSpPr>
          <p:nvPr/>
        </p:nvSpPr>
        <p:spPr>
          <a:xfrm xmlns:a="http://schemas.openxmlformats.org/drawingml/2006/main">
            <a:off x="7848600" y="1847850"/>
            <a:ext cx="352425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Fragevektor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384 Zahlen</a:t>
            </a:r>
          </a:p>
        </p:txBody>
      </p:sp>
      <p:sp>
        <p:nvSpPr>
          <p:cNvPr id="6" name="">
            <a:extLst xmlns:a="http://schemas.openxmlformats.org/drawingml/2006/main">
              <a:ext uri="{FF2B5EF4-FFF2-40B4-BE49-F238E27FC236}">
                <a16:creationId xmlns:a16="http://schemas.microsoft.com/office/drawing/2014/main" id="{D82DD5A7-72C0-4FF3-B214-C6143FA32569}"/>
              </a:ext>
            </a:extLst>
          </p:cNvPr>
          <p:cNvSpPr>
            <a:spLocks xmlns:a="http://schemas.openxmlformats.org/drawingml/2006/main" noGrp="1"/>
          </p:cNvSpPr>
          <p:nvPr/>
        </p:nvSpPr>
        <p:spPr>
          <a:xfrm xmlns:a="http://schemas.openxmlformats.org/drawingml/2006/main">
            <a:off x="609600" y="3790950"/>
            <a:ext cx="352425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Handbuchabschnitt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Präfix passage:</a:t>
            </a:r>
          </a:p>
        </p:txBody>
      </p:sp>
      <p:sp>
        <p:nvSpPr>
          <p:cNvPr id="7" name="">
            <a:extLst xmlns:a="http://schemas.openxmlformats.org/drawingml/2006/main">
              <a:ext uri="{FF2B5EF4-FFF2-40B4-BE49-F238E27FC236}">
                <a16:creationId xmlns:a16="http://schemas.microsoft.com/office/drawing/2014/main" id="{999B262D-FA22-45B1-B005-4DBB66F05F39}"/>
              </a:ext>
            </a:extLst>
          </p:cNvPr>
          <p:cNvSpPr>
            <a:spLocks xmlns:a="http://schemas.openxmlformats.org/drawingml/2006/main" noGrp="1"/>
          </p:cNvSpPr>
          <p:nvPr/>
        </p:nvSpPr>
        <p:spPr>
          <a:xfrm xmlns:a="http://schemas.openxmlformats.org/drawingml/2006/main">
            <a:off x="7848600" y="3790950"/>
            <a:ext cx="352425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Textvektor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384 Zahlen</a:t>
            </a:r>
          </a:p>
        </p:txBody>
      </p:sp>
      <p:cxnSp>
        <p:nvCxnSpPr>
          <p:cNvPr id="20" name=""/>
          <p:cNvCxnSpPr>
            <a:stCxn xmlns:a="http://schemas.openxmlformats.org/drawingml/2006/main" id="3" idx="3"/>
            <a:endCxn xmlns:a="http://schemas.openxmlformats.org/drawingml/2006/main" id="4" idx="1"/>
          </p:cNvCxnSpPr>
          <p:nvPr/>
        </p:nvCxnSpPr>
        <p:spPr>
          <a:xfrm xmlns:a="http://schemas.openxmlformats.org/drawingml/2006/main">
            <a:off x="4133850" y="2347913"/>
            <a:ext cx="571500" cy="5524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1" name=""/>
          <p:cNvCxnSpPr>
            <a:stCxn xmlns:a="http://schemas.openxmlformats.org/drawingml/2006/main" id="6" idx="3"/>
            <a:endCxn xmlns:a="http://schemas.openxmlformats.org/drawingml/2006/main" id="4" idx="1"/>
          </p:cNvCxnSpPr>
          <p:nvPr/>
        </p:nvCxnSpPr>
        <p:spPr>
          <a:xfrm xmlns:a="http://schemas.openxmlformats.org/drawingml/2006/main" flipV="1">
            <a:off x="4133850" y="2900363"/>
            <a:ext cx="571500" cy="13906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2" name=""/>
          <p:cNvCxnSpPr>
            <a:stCxn xmlns:a="http://schemas.openxmlformats.org/drawingml/2006/main" id="4" idx="3"/>
            <a:endCxn xmlns:a="http://schemas.openxmlformats.org/drawingml/2006/main" id="5" idx="1"/>
          </p:cNvCxnSpPr>
          <p:nvPr/>
        </p:nvCxnSpPr>
        <p:spPr>
          <a:xfrm xmlns:a="http://schemas.openxmlformats.org/drawingml/2006/main" flipV="1">
            <a:off x="7229475" y="2347913"/>
            <a:ext cx="619125" cy="5524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3" name=""/>
          <p:cNvCxnSpPr>
            <a:stCxn xmlns:a="http://schemas.openxmlformats.org/drawingml/2006/main" id="4" idx="3"/>
            <a:endCxn xmlns:a="http://schemas.openxmlformats.org/drawingml/2006/main" id="7" idx="1"/>
          </p:cNvCxnSpPr>
          <p:nvPr/>
        </p:nvCxnSpPr>
        <p:spPr>
          <a:xfrm xmlns:a="http://schemas.openxmlformats.org/drawingml/2006/main">
            <a:off x="7229475" y="2900363"/>
            <a:ext cx="619125" cy="13906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sp>
        <p:nvSpPr>
          <p:cNvPr id="12" name="">
            <a:extLst xmlns:a="http://schemas.openxmlformats.org/drawingml/2006/main">
              <a:ext uri="{FF2B5EF4-FFF2-40B4-BE49-F238E27FC236}">
                <a16:creationId xmlns:a16="http://schemas.microsoft.com/office/drawing/2014/main" id="{8613B04C-5917-4269-A835-FC67D8728498}"/>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Frage und Textabschnitt müssen mit demselben Embedding-Modell verarbeitet werden.</a:t>
            </a:r>
          </a:p>
        </p:txBody>
      </p:sp>
    </p:spTree>
    <p:extLst>
      <p:ext uri="{BB962C8B-B14F-4D97-AF65-F5344CB8AC3E}">
        <p14:creationId xmlns:p14="http://schemas.microsoft.com/office/powerpoint/2010/main" val="89340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1BA44E-B226-430C-B579-F27638A0EC7E}"/>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Vektorähnlichkeit und Relevanz</a:t>
            </a:r>
          </a:p>
        </p:txBody>
      </p:sp>
      <p:sp>
        <p:nvSpPr>
          <p:cNvPr id="2" name="">
            <a:extLst xmlns:a="http://schemas.openxmlformats.org/drawingml/2006/main">
              <a:ext uri="{FF2B5EF4-FFF2-40B4-BE49-F238E27FC236}">
                <a16:creationId xmlns:a16="http://schemas.microsoft.com/office/drawing/2014/main" id="{D030F501-7130-40E0-B1E4-3D36CB26E60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63DFEE20-033F-4608-B154-EA807F399717}"/>
              </a:ext>
            </a:extLst>
          </p:cNvPr>
          <p:cNvSpPr>
            <a:spLocks xmlns:a="http://schemas.openxmlformats.org/drawingml/2006/main" noGrp="1"/>
          </p:cNvSpPr>
          <p:nvPr/>
        </p:nvSpPr>
        <p:spPr>
          <a:xfrm xmlns:a="http://schemas.openxmlformats.org/drawingml/2006/main">
            <a:off x="857250" y="193357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1">
                <a:solidFill>
                  <a:srgbClr val="007B83"/>
                </a:solidFill>
                <a:latin typeface="Arial"/>
                <a:ea typeface="Arial"/>
                <a:cs typeface="Arial"/>
              </a:defRPr>
            </a:pPr>
            <a:r>
              <a:rPr sz="3225" b="1">
                <a:solidFill>
                  <a:srgbClr val="007B83"/>
                </a:solidFill>
                <a:latin typeface="Arial"/>
                <a:ea typeface="Arial"/>
                <a:cs typeface="Arial"/>
              </a:rPr>
              <a:t>cos(q, d) = (q · d) / (‖q‖ × ‖d‖)</a:t>
            </a:r>
          </a:p>
        </p:txBody>
      </p:sp>
      <p:sp>
        <p:nvSpPr>
          <p:cNvPr id="4" name="">
            <a:extLst xmlns:a="http://schemas.openxmlformats.org/drawingml/2006/main">
              <a:ext uri="{FF2B5EF4-FFF2-40B4-BE49-F238E27FC236}">
                <a16:creationId xmlns:a16="http://schemas.microsoft.com/office/drawing/2014/main" id="{5B9937D4-3CF0-4DDA-BE19-63F4B9BE5AEA}"/>
              </a:ext>
            </a:extLst>
          </p:cNvPr>
          <p:cNvSpPr>
            <a:spLocks xmlns:a="http://schemas.openxmlformats.org/drawingml/2006/main" noGrp="1"/>
          </p:cNvSpPr>
          <p:nvPr/>
        </p:nvSpPr>
        <p:spPr>
          <a:xfrm xmlns:a="http://schemas.openxmlformats.org/drawingml/2006/main">
            <a:off x="609600" y="333375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Hoher Suchscore</a:t>
            </a:r>
          </a:p>
        </p:txBody>
      </p:sp>
      <p:sp>
        <p:nvSpPr>
          <p:cNvPr id="5" name="">
            <a:extLst xmlns:a="http://schemas.openxmlformats.org/drawingml/2006/main">
              <a:ext uri="{FF2B5EF4-FFF2-40B4-BE49-F238E27FC236}">
                <a16:creationId xmlns:a16="http://schemas.microsoft.com/office/drawing/2014/main" id="{FC15051B-56DD-42F9-8ED6-CD3F88ECE498}"/>
              </a:ext>
            </a:extLst>
          </p:cNvPr>
          <p:cNvSpPr>
            <a:spLocks xmlns:a="http://schemas.openxmlformats.org/drawingml/2006/main" noGrp="1"/>
          </p:cNvSpPr>
          <p:nvPr/>
        </p:nvSpPr>
        <p:spPr>
          <a:xfrm xmlns:a="http://schemas.openxmlformats.org/drawingml/2006/main">
            <a:off x="3762375" y="3333750"/>
            <a:ext cx="7524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Der Text kann zur Frage passen. Seine Aussage muss trotzdem geprüft werden.</a:t>
            </a:r>
          </a:p>
        </p:txBody>
      </p:sp>
      <p:sp>
        <p:nvSpPr>
          <p:cNvPr id="6" name="">
            <a:extLst xmlns:a="http://schemas.openxmlformats.org/drawingml/2006/main">
              <a:ext uri="{FF2B5EF4-FFF2-40B4-BE49-F238E27FC236}">
                <a16:creationId xmlns:a16="http://schemas.microsoft.com/office/drawing/2014/main" id="{B163DE2A-6526-48ED-AA44-3563F9E716AC}"/>
              </a:ext>
            </a:extLst>
          </p:cNvPr>
          <p:cNvSpPr>
            <a:spLocks xmlns:a="http://schemas.openxmlformats.org/drawingml/2006/main" noGrp="1"/>
          </p:cNvSpPr>
          <p:nvPr/>
        </p:nvSpPr>
        <p:spPr>
          <a:xfrm xmlns:a="http://schemas.openxmlformats.org/drawingml/2006/main">
            <a:off x="609600" y="447675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Fehlercodes</a:t>
            </a:r>
          </a:p>
        </p:txBody>
      </p:sp>
      <p:sp>
        <p:nvSpPr>
          <p:cNvPr id="7" name="">
            <a:extLst xmlns:a="http://schemas.openxmlformats.org/drawingml/2006/main">
              <a:ext uri="{FF2B5EF4-FFF2-40B4-BE49-F238E27FC236}">
                <a16:creationId xmlns:a16="http://schemas.microsoft.com/office/drawing/2014/main" id="{4725BAA8-EEA3-4E0F-8A7D-3C7E1F95B467}"/>
              </a:ext>
            </a:extLst>
          </p:cNvPr>
          <p:cNvSpPr>
            <a:spLocks xmlns:a="http://schemas.openxmlformats.org/drawingml/2006/main" noGrp="1"/>
          </p:cNvSpPr>
          <p:nvPr/>
        </p:nvSpPr>
        <p:spPr>
          <a:xfrm xmlns:a="http://schemas.openxmlformats.org/drawingml/2006/main">
            <a:off x="3762375" y="4476750"/>
            <a:ext cx="7524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E:18 und E:23 liegen sprachlich nahe, haben aber verschiedene Bedeutungen.</a:t>
            </a:r>
          </a:p>
        </p:txBody>
      </p:sp>
      <p:sp>
        <p:nvSpPr>
          <p:cNvPr id="8" name="">
            <a:extLst xmlns:a="http://schemas.openxmlformats.org/drawingml/2006/main">
              <a:ext uri="{FF2B5EF4-FFF2-40B4-BE49-F238E27FC236}">
                <a16:creationId xmlns:a16="http://schemas.microsoft.com/office/drawing/2014/main" id="{71202345-EF52-454A-9F06-15DD63D33870}"/>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Ähnlichkeitswerte sind keine Wahrscheinlichkeit für eine richtige Antwort.</a:t>
            </a:r>
          </a:p>
        </p:txBody>
      </p:sp>
    </p:spTree>
    <p:extLst>
      <p:ext uri="{BB962C8B-B14F-4D97-AF65-F5344CB8AC3E}">
        <p14:creationId xmlns:p14="http://schemas.microsoft.com/office/powerpoint/2010/main" val="17197223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A8AF4C4-1008-4FB8-BADA-14DAE90D9A49}"/>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Hybrid-Retrieval im Projekt</a:t>
            </a:r>
          </a:p>
        </p:txBody>
      </p:sp>
      <p:sp>
        <p:nvSpPr>
          <p:cNvPr id="2" name="">
            <a:extLst xmlns:a="http://schemas.openxmlformats.org/drawingml/2006/main">
              <a:ext uri="{FF2B5EF4-FFF2-40B4-BE49-F238E27FC236}">
                <a16:creationId xmlns:a16="http://schemas.microsoft.com/office/drawing/2014/main" id="{2958A80F-E9EB-42D8-A8A5-6351FD213AE1}"/>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787A8D2E-4B90-49F1-9E59-4E17A4B30831}"/>
              </a:ext>
            </a:extLst>
          </p:cNvPr>
          <p:cNvSpPr>
            <a:spLocks xmlns:a="http://schemas.openxmlformats.org/drawingml/2006/main" noGrp="1"/>
          </p:cNvSpPr>
          <p:nvPr/>
        </p:nvSpPr>
        <p:spPr>
          <a:xfrm xmlns:a="http://schemas.openxmlformats.org/drawingml/2006/main">
            <a:off x="609600" y="2847975"/>
            <a:ext cx="2095500"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Nutzerfrage</a:t>
            </a:r>
          </a:p>
        </p:txBody>
      </p:sp>
      <p:sp>
        <p:nvSpPr>
          <p:cNvPr id="4" name="">
            <a:extLst xmlns:a="http://schemas.openxmlformats.org/drawingml/2006/main">
              <a:ext uri="{FF2B5EF4-FFF2-40B4-BE49-F238E27FC236}">
                <a16:creationId xmlns:a16="http://schemas.microsoft.com/office/drawing/2014/main" id="{FE18FB6F-1C73-4EDF-90AB-D61BC40AB3E0}"/>
              </a:ext>
            </a:extLst>
          </p:cNvPr>
          <p:cNvSpPr>
            <a:spLocks xmlns:a="http://schemas.openxmlformats.org/drawingml/2006/main" noGrp="1"/>
          </p:cNvSpPr>
          <p:nvPr/>
        </p:nvSpPr>
        <p:spPr>
          <a:xfrm xmlns:a="http://schemas.openxmlformats.org/drawingml/2006/main">
            <a:off x="3381375" y="1743075"/>
            <a:ext cx="2286000" cy="1047750"/>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Vektorsuche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Top 12</a:t>
            </a:r>
          </a:p>
        </p:txBody>
      </p:sp>
      <p:sp>
        <p:nvSpPr>
          <p:cNvPr id="5" name="">
            <a:extLst xmlns:a="http://schemas.openxmlformats.org/drawingml/2006/main">
              <a:ext uri="{FF2B5EF4-FFF2-40B4-BE49-F238E27FC236}">
                <a16:creationId xmlns:a16="http://schemas.microsoft.com/office/drawing/2014/main" id="{FC330EE7-7EB7-43A7-97BC-C4F1D7600EAE}"/>
              </a:ext>
            </a:extLst>
          </p:cNvPr>
          <p:cNvSpPr>
            <a:spLocks xmlns:a="http://schemas.openxmlformats.org/drawingml/2006/main" noGrp="1"/>
          </p:cNvSpPr>
          <p:nvPr/>
        </p:nvSpPr>
        <p:spPr>
          <a:xfrm xmlns:a="http://schemas.openxmlformats.org/drawingml/2006/main">
            <a:off x="3381375" y="3800475"/>
            <a:ext cx="2286000" cy="1047750"/>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Exakter Lookup</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z. B. E:18</a:t>
            </a:r>
          </a:p>
        </p:txBody>
      </p:sp>
      <p:sp>
        <p:nvSpPr>
          <p:cNvPr id="6" name="">
            <a:extLst xmlns:a="http://schemas.openxmlformats.org/drawingml/2006/main">
              <a:ext uri="{FF2B5EF4-FFF2-40B4-BE49-F238E27FC236}">
                <a16:creationId xmlns:a16="http://schemas.microsoft.com/office/drawing/2014/main" id="{E6162BBB-9A65-4449-812F-F931392E8D58}"/>
              </a:ext>
            </a:extLst>
          </p:cNvPr>
          <p:cNvSpPr>
            <a:spLocks xmlns:a="http://schemas.openxmlformats.org/drawingml/2006/main" noGrp="1"/>
          </p:cNvSpPr>
          <p:nvPr/>
        </p:nvSpPr>
        <p:spPr>
          <a:xfrm xmlns:a="http://schemas.openxmlformats.org/drawingml/2006/main">
            <a:off x="6381750" y="2847975"/>
            <a:ext cx="2238375"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Kandidaten</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vereinigen</a:t>
            </a:r>
          </a:p>
        </p:txBody>
      </p:sp>
      <p:sp>
        <p:nvSpPr>
          <p:cNvPr id="7" name="">
            <a:extLst xmlns:a="http://schemas.openxmlformats.org/drawingml/2006/main">
              <a:ext uri="{FF2B5EF4-FFF2-40B4-BE49-F238E27FC236}">
                <a16:creationId xmlns:a16="http://schemas.microsoft.com/office/drawing/2014/main" id="{3F0A2E1D-244B-4B44-92ED-1C08FEFD1FA0}"/>
              </a:ext>
            </a:extLst>
          </p:cNvPr>
          <p:cNvSpPr>
            <a:spLocks xmlns:a="http://schemas.openxmlformats.org/drawingml/2006/main" noGrp="1"/>
          </p:cNvSpPr>
          <p:nvPr/>
        </p:nvSpPr>
        <p:spPr>
          <a:xfrm xmlns:a="http://schemas.openxmlformats.org/drawingml/2006/main">
            <a:off x="9267825" y="2847975"/>
            <a:ext cx="2238375" cy="100012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Reranking</a:t>
            </a:r>
          </a:p>
        </p:txBody>
      </p:sp>
      <p:cxnSp>
        <p:nvCxnSpPr>
          <p:cNvPr id="21" name=""/>
          <p:cNvCxnSpPr>
            <a:stCxn xmlns:a="http://schemas.openxmlformats.org/drawingml/2006/main" id="3" idx="3"/>
            <a:endCxn xmlns:a="http://schemas.openxmlformats.org/drawingml/2006/main" id="4" idx="1"/>
          </p:cNvCxnSpPr>
          <p:nvPr/>
        </p:nvCxnSpPr>
        <p:spPr>
          <a:xfrm xmlns:a="http://schemas.openxmlformats.org/drawingml/2006/main" flipV="1">
            <a:off x="2705100" y="2266950"/>
            <a:ext cx="676275" cy="1081088"/>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2" name=""/>
          <p:cNvCxnSpPr>
            <a:stCxn xmlns:a="http://schemas.openxmlformats.org/drawingml/2006/main" id="3" idx="3"/>
            <a:endCxn xmlns:a="http://schemas.openxmlformats.org/drawingml/2006/main" id="5" idx="1"/>
          </p:cNvCxnSpPr>
          <p:nvPr/>
        </p:nvCxnSpPr>
        <p:spPr>
          <a:xfrm xmlns:a="http://schemas.openxmlformats.org/drawingml/2006/main">
            <a:off x="2705100" y="3348038"/>
            <a:ext cx="676275" cy="976313"/>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3" name=""/>
          <p:cNvCxnSpPr>
            <a:stCxn xmlns:a="http://schemas.openxmlformats.org/drawingml/2006/main" id="4" idx="3"/>
            <a:endCxn xmlns:a="http://schemas.openxmlformats.org/drawingml/2006/main" id="6" idx="1"/>
          </p:cNvCxnSpPr>
          <p:nvPr/>
        </p:nvCxnSpPr>
        <p:spPr>
          <a:xfrm xmlns:a="http://schemas.openxmlformats.org/drawingml/2006/main">
            <a:off x="5667375" y="2266950"/>
            <a:ext cx="714375" cy="1081088"/>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4" name=""/>
          <p:cNvCxnSpPr>
            <a:stCxn xmlns:a="http://schemas.openxmlformats.org/drawingml/2006/main" id="5" idx="3"/>
            <a:endCxn xmlns:a="http://schemas.openxmlformats.org/drawingml/2006/main" id="6" idx="1"/>
          </p:cNvCxnSpPr>
          <p:nvPr/>
        </p:nvCxnSpPr>
        <p:spPr>
          <a:xfrm xmlns:a="http://schemas.openxmlformats.org/drawingml/2006/main" flipV="1">
            <a:off x="5667375" y="3348038"/>
            <a:ext cx="714375" cy="976313"/>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5" name=""/>
          <p:cNvCxnSpPr>
            <a:stCxn xmlns:a="http://schemas.openxmlformats.org/drawingml/2006/main" id="6" idx="3"/>
            <a:endCxn xmlns:a="http://schemas.openxmlformats.org/drawingml/2006/main" id="7" idx="1"/>
          </p:cNvCxnSpPr>
          <p:nvPr/>
        </p:nvCxnSpPr>
        <p:spPr>
          <a:xfrm xmlns:a="http://schemas.openxmlformats.org/drawingml/2006/main">
            <a:off x="8620125" y="3348038"/>
            <a:ext cx="6477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3" name="">
            <a:extLst xmlns:a="http://schemas.openxmlformats.org/drawingml/2006/main">
              <a:ext uri="{FF2B5EF4-FFF2-40B4-BE49-F238E27FC236}">
                <a16:creationId xmlns:a16="http://schemas.microsoft.com/office/drawing/2014/main" id="{E8BC56C6-5A35-4D9C-8E9B-FD3DFBC8E979}"/>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E:18 darf E:180 nicht als exakten Treffer behandeln. Doppelte Nodes werden entfernt.</a:t>
            </a:r>
          </a:p>
        </p:txBody>
      </p:sp>
    </p:spTree>
    <p:extLst>
      <p:ext uri="{BB962C8B-B14F-4D97-AF65-F5344CB8AC3E}">
        <p14:creationId xmlns:p14="http://schemas.microsoft.com/office/powerpoint/2010/main" val="14678626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CC79627-C982-472B-B8D0-1BBF6CD08034}"/>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Reranking bewertet Frage und Text gemeinsam</a:t>
            </a:r>
          </a:p>
        </p:txBody>
      </p:sp>
      <p:sp>
        <p:nvSpPr>
          <p:cNvPr id="2" name="">
            <a:extLst xmlns:a="http://schemas.openxmlformats.org/drawingml/2006/main">
              <a:ext uri="{FF2B5EF4-FFF2-40B4-BE49-F238E27FC236}">
                <a16:creationId xmlns:a16="http://schemas.microsoft.com/office/drawing/2014/main" id="{28397DD3-7BB6-43BC-B36F-F4381E4E0E2B}"/>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08901C73-707A-419E-8574-1C8BFE469569}"/>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Frage +</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Kandidat A</a:t>
            </a:r>
          </a:p>
        </p:txBody>
      </p:sp>
      <p:sp>
        <p:nvSpPr>
          <p:cNvPr id="4" name="">
            <a:extLst xmlns:a="http://schemas.openxmlformats.org/drawingml/2006/main">
              <a:ext uri="{FF2B5EF4-FFF2-40B4-BE49-F238E27FC236}">
                <a16:creationId xmlns:a16="http://schemas.microsoft.com/office/drawing/2014/main" id="{F640677A-DBAB-4C3C-AEB2-140FC5503E11}"/>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Cross-Encoder</a:t>
            </a:r>
          </a:p>
        </p:txBody>
      </p:sp>
      <p:sp>
        <p:nvSpPr>
          <p:cNvPr id="5" name="">
            <a:extLst xmlns:a="http://schemas.openxmlformats.org/drawingml/2006/main">
              <a:ext uri="{FF2B5EF4-FFF2-40B4-BE49-F238E27FC236}">
                <a16:creationId xmlns:a16="http://schemas.microsoft.com/office/drawing/2014/main" id="{9190BF39-8C88-48D0-A3FD-9F1F18D52AEE}"/>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Relevanzscore</a:t>
            </a:r>
          </a:p>
        </p:txBody>
      </p:sp>
      <p:sp>
        <p:nvSpPr>
          <p:cNvPr id="6" name="">
            <a:extLst xmlns:a="http://schemas.openxmlformats.org/drawingml/2006/main">
              <a:ext uri="{FF2B5EF4-FFF2-40B4-BE49-F238E27FC236}">
                <a16:creationId xmlns:a16="http://schemas.microsoft.com/office/drawing/2014/main" id="{83959377-6AE7-4B50-939D-D6C20890097C}"/>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Beste 5</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Abschnitte</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70A2B996-7B69-4554-AA40-9FD5E6D7DB44}"/>
              </a:ext>
            </a:extLst>
          </p:cNvPr>
          <p:cNvSpPr>
            <a:spLocks xmlns:a="http://schemas.openxmlformats.org/drawingml/2006/main" noGrp="1"/>
          </p:cNvSpPr>
          <p:nvPr/>
        </p:nvSpPr>
        <p:spPr>
          <a:xfrm xmlns:a="http://schemas.openxmlformats.org/drawingml/2006/main">
            <a:off x="609600" y="16573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007B83"/>
                </a:solidFill>
                <a:latin typeface="Arial"/>
                <a:ea typeface="Arial"/>
                <a:cs typeface="Arial"/>
              </a:defRPr>
            </a:pPr>
            <a:r>
              <a:rPr sz="2250" b="1">
                <a:solidFill>
                  <a:srgbClr val="007B83"/>
                </a:solidFill>
                <a:latin typeface="Arial"/>
                <a:ea typeface="Arial"/>
                <a:cs typeface="Arial"/>
              </a:rPr>
              <a:t>Mehr Genauigkeit kostet zusätzliche Rechenzeit</a:t>
            </a:r>
          </a:p>
        </p:txBody>
      </p:sp>
      <p:sp>
        <p:nvSpPr>
          <p:cNvPr id="11" name="">
            <a:extLst xmlns:a="http://schemas.openxmlformats.org/drawingml/2006/main">
              <a:ext uri="{FF2B5EF4-FFF2-40B4-BE49-F238E27FC236}">
                <a16:creationId xmlns:a16="http://schemas.microsoft.com/office/drawing/2014/main" id="{61D1C5C2-499D-4698-9F4A-89EBF418C37E}"/>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Der Reranker sortiert die Kandidaten. Er kann fehlende Kandidaten nicht nachträglich finden.</a:t>
            </a:r>
          </a:p>
        </p:txBody>
      </p:sp>
    </p:spTree>
    <p:extLst>
      <p:ext uri="{BB962C8B-B14F-4D97-AF65-F5344CB8AC3E}">
        <p14:creationId xmlns:p14="http://schemas.microsoft.com/office/powerpoint/2010/main" val="6097401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643662D-C49B-40E7-82AA-34E2733470D8}"/>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Relevanzprüfung vor der Generierung</a:t>
            </a:r>
          </a:p>
        </p:txBody>
      </p:sp>
      <p:sp>
        <p:nvSpPr>
          <p:cNvPr id="2" name="">
            <a:extLst xmlns:a="http://schemas.openxmlformats.org/drawingml/2006/main">
              <a:ext uri="{FF2B5EF4-FFF2-40B4-BE49-F238E27FC236}">
                <a16:creationId xmlns:a16="http://schemas.microsoft.com/office/drawing/2014/main" id="{640F5F36-3A25-4E0C-858F-35011E7D5A72}"/>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EEC8F5FE-466C-4331-9A8A-C116123A98AA}"/>
              </a:ext>
            </a:extLst>
          </p:cNvPr>
          <p:cNvSpPr>
            <a:spLocks xmlns:a="http://schemas.openxmlformats.org/drawingml/2006/main" noGrp="1"/>
          </p:cNvSpPr>
          <p:nvPr/>
        </p:nvSpPr>
        <p:spPr>
          <a:xfrm xmlns:a="http://schemas.openxmlformats.org/drawingml/2006/main">
            <a:off x="609600" y="2714625"/>
            <a:ext cx="22669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Beste Treffer</a:t>
            </a:r>
          </a:p>
        </p:txBody>
      </p:sp>
      <p:sp>
        <p:nvSpPr>
          <p:cNvPr id="4" name="">
            <a:extLst xmlns:a="http://schemas.openxmlformats.org/drawingml/2006/main">
              <a:ext uri="{FF2B5EF4-FFF2-40B4-BE49-F238E27FC236}">
                <a16:creationId xmlns:a16="http://schemas.microsoft.com/office/drawing/2014/main" id="{3012DE91-5452-4CC9-BBA7-B6452D541386}"/>
              </a:ext>
            </a:extLst>
          </p:cNvPr>
          <p:cNvSpPr>
            <a:spLocks xmlns:a="http://schemas.openxmlformats.org/drawingml/2006/main" noGrp="1"/>
          </p:cNvSpPr>
          <p:nvPr/>
        </p:nvSpPr>
        <p:spPr>
          <a:xfrm xmlns:a="http://schemas.openxmlformats.org/drawingml/2006/main">
            <a:off x="3533775" y="2714625"/>
            <a:ext cx="2543175"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Ausreichender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Relevanzscore?</a:t>
            </a:r>
          </a:p>
        </p:txBody>
      </p:sp>
      <p:sp>
        <p:nvSpPr>
          <p:cNvPr id="5" name="">
            <a:extLst xmlns:a="http://schemas.openxmlformats.org/drawingml/2006/main">
              <a:ext uri="{FF2B5EF4-FFF2-40B4-BE49-F238E27FC236}">
                <a16:creationId xmlns:a16="http://schemas.microsoft.com/office/drawing/2014/main" id="{BDA51DF8-67E0-4ADA-B0BB-4A4226E649E0}"/>
              </a:ext>
            </a:extLst>
          </p:cNvPr>
          <p:cNvSpPr>
            <a:spLocks xmlns:a="http://schemas.openxmlformats.org/drawingml/2006/main" noGrp="1"/>
          </p:cNvSpPr>
          <p:nvPr/>
        </p:nvSpPr>
        <p:spPr>
          <a:xfrm xmlns:a="http://schemas.openxmlformats.org/drawingml/2006/main">
            <a:off x="7267575" y="1819275"/>
            <a:ext cx="39433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Antwort aus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Handbuchkontext</a:t>
            </a:r>
          </a:p>
        </p:txBody>
      </p:sp>
      <p:sp>
        <p:nvSpPr>
          <p:cNvPr id="6" name="">
            <a:extLst xmlns:a="http://schemas.openxmlformats.org/drawingml/2006/main">
              <a:ext uri="{FF2B5EF4-FFF2-40B4-BE49-F238E27FC236}">
                <a16:creationId xmlns:a16="http://schemas.microsoft.com/office/drawing/2014/main" id="{7EB9A41B-335D-430B-8184-1A47888E55CD}"/>
              </a:ext>
            </a:extLst>
          </p:cNvPr>
          <p:cNvSpPr>
            <a:spLocks xmlns:a="http://schemas.openxmlformats.org/drawingml/2006/main" noGrp="1"/>
          </p:cNvSpPr>
          <p:nvPr/>
        </p:nvSpPr>
        <p:spPr>
          <a:xfrm xmlns:a="http://schemas.openxmlformats.org/drawingml/2006/main">
            <a:off x="7267575" y="4000500"/>
            <a:ext cx="39433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Keine ausreichende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Handbuchinformation</a:t>
            </a:r>
          </a:p>
        </p:txBody>
      </p:sp>
      <p:cxnSp>
        <p:nvCxnSpPr>
          <p:cNvPr id="19" name=""/>
          <p:cNvCxnSpPr>
            <a:stCxn xmlns:a="http://schemas.openxmlformats.org/drawingml/2006/main" id="3" idx="3"/>
            <a:endCxn xmlns:a="http://schemas.openxmlformats.org/drawingml/2006/main" id="4" idx="1"/>
          </p:cNvCxnSpPr>
          <p:nvPr/>
        </p:nvCxnSpPr>
        <p:spPr>
          <a:xfrm xmlns:a="http://schemas.openxmlformats.org/drawingml/2006/main">
            <a:off x="2876550" y="3262313"/>
            <a:ext cx="657225"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4" idx="3"/>
            <a:endCxn xmlns:a="http://schemas.openxmlformats.org/drawingml/2006/main" id="5" idx="1"/>
          </p:cNvCxnSpPr>
          <p:nvPr/>
        </p:nvCxnSpPr>
        <p:spPr>
          <a:xfrm xmlns:a="http://schemas.openxmlformats.org/drawingml/2006/main" flipV="1">
            <a:off x="6076950" y="2366963"/>
            <a:ext cx="1190625" cy="8953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1" name=""/>
          <p:cNvCxnSpPr>
            <a:stCxn xmlns:a="http://schemas.openxmlformats.org/drawingml/2006/main" id="4" idx="3"/>
            <a:endCxn xmlns:a="http://schemas.openxmlformats.org/drawingml/2006/main" id="6" idx="1"/>
          </p:cNvCxnSpPr>
          <p:nvPr/>
        </p:nvCxnSpPr>
        <p:spPr>
          <a:xfrm xmlns:a="http://schemas.openxmlformats.org/drawingml/2006/main">
            <a:off x="6076950" y="3262313"/>
            <a:ext cx="1190625" cy="1285875"/>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CE52EB11-12B6-4CDA-979D-B499B3D2214F}"/>
              </a:ext>
            </a:extLst>
          </p:cNvPr>
          <p:cNvSpPr>
            <a:spLocks xmlns:a="http://schemas.openxmlformats.org/drawingml/2006/main" noGrp="1"/>
          </p:cNvSpPr>
          <p:nvPr/>
        </p:nvSpPr>
        <p:spPr>
          <a:xfrm xmlns:a="http://schemas.openxmlformats.org/drawingml/2006/main">
            <a:off x="6515100" y="21050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1">
                <a:solidFill>
                  <a:srgbClr val="007B83"/>
                </a:solidFill>
                <a:latin typeface="Arial"/>
                <a:ea typeface="Arial"/>
                <a:cs typeface="Arial"/>
              </a:defRPr>
            </a:pPr>
            <a:r>
              <a:rPr sz="1725" b="1">
                <a:solidFill>
                  <a:srgbClr val="007B83"/>
                </a:solidFill>
                <a:latin typeface="Arial"/>
                <a:ea typeface="Arial"/>
                <a:cs typeface="Arial"/>
              </a:rPr>
              <a:t>Ja</a:t>
            </a:r>
          </a:p>
        </p:txBody>
      </p:sp>
      <p:sp>
        <p:nvSpPr>
          <p:cNvPr id="11" name="">
            <a:extLst xmlns:a="http://schemas.openxmlformats.org/drawingml/2006/main">
              <a:ext uri="{FF2B5EF4-FFF2-40B4-BE49-F238E27FC236}">
                <a16:creationId xmlns:a16="http://schemas.microsoft.com/office/drawing/2014/main" id="{3EAAF4E5-DD00-4C28-AC97-0CFF0E88C1D2}"/>
              </a:ext>
            </a:extLst>
          </p:cNvPr>
          <p:cNvSpPr>
            <a:spLocks xmlns:a="http://schemas.openxmlformats.org/drawingml/2006/main" noGrp="1"/>
          </p:cNvSpPr>
          <p:nvPr/>
        </p:nvSpPr>
        <p:spPr>
          <a:xfrm xmlns:a="http://schemas.openxmlformats.org/drawingml/2006/main">
            <a:off x="6515100" y="4505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1">
                <a:solidFill>
                  <a:srgbClr val="9C6100"/>
                </a:solidFill>
                <a:latin typeface="Arial"/>
                <a:ea typeface="Arial"/>
                <a:cs typeface="Arial"/>
              </a:defRPr>
            </a:pPr>
            <a:r>
              <a:rPr sz="1725" b="1">
                <a:solidFill>
                  <a:srgbClr val="9C6100"/>
                </a:solidFill>
                <a:latin typeface="Arial"/>
                <a:ea typeface="Arial"/>
                <a:cs typeface="Arial"/>
              </a:rPr>
              <a:t>Nein</a:t>
            </a:r>
          </a:p>
        </p:txBody>
      </p:sp>
      <p:sp>
        <p:nvSpPr>
          <p:cNvPr id="12" name="">
            <a:extLst xmlns:a="http://schemas.openxmlformats.org/drawingml/2006/main">
              <a:ext uri="{FF2B5EF4-FFF2-40B4-BE49-F238E27FC236}">
                <a16:creationId xmlns:a16="http://schemas.microsoft.com/office/drawing/2014/main" id="{CF12181D-53D0-4FAF-BACA-25485DB4DCCC}"/>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Schwellwert mit passenden Fragen und echten Gegenbeispielen kalibrieren.</a:t>
            </a:r>
          </a:p>
        </p:txBody>
      </p:sp>
    </p:spTree>
    <p:extLst>
      <p:ext uri="{BB962C8B-B14F-4D97-AF65-F5344CB8AC3E}">
        <p14:creationId xmlns:p14="http://schemas.microsoft.com/office/powerpoint/2010/main" val="134446872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AE59E7-BF57-4DBF-A4B2-6DB5EEFCADC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Quellen: Fundseite und Querverweis</a:t>
            </a:r>
          </a:p>
        </p:txBody>
      </p:sp>
      <p:sp>
        <p:nvSpPr>
          <p:cNvPr id="2" name="">
            <a:extLst xmlns:a="http://schemas.openxmlformats.org/drawingml/2006/main">
              <a:ext uri="{FF2B5EF4-FFF2-40B4-BE49-F238E27FC236}">
                <a16:creationId xmlns:a16="http://schemas.microsoft.com/office/drawing/2014/main" id="{53668A33-4ED6-451D-A562-FF4953FB7F4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15</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9b0e1278aef4e7f"/>
          <a:stretch xmlns:a="http://schemas.openxmlformats.org/drawingml/2006/main"/>
        </p:blipFill>
        <p:spPr>
          <a:xfrm xmlns:a="http://schemas.openxmlformats.org/drawingml/2006/main">
            <a:off x="1263825" y="1485900"/>
            <a:ext cx="3263551" cy="46291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E1B4536-0190-4AEC-A244-420129B6A93C}"/>
              </a:ext>
            </a:extLst>
          </p:cNvPr>
          <p:cNvSpPr>
            <a:spLocks xmlns:a="http://schemas.openxmlformats.org/drawingml/2006/main" noGrp="1"/>
          </p:cNvSpPr>
          <p:nvPr/>
        </p:nvSpPr>
        <p:spPr>
          <a:xfrm xmlns:a="http://schemas.openxmlformats.org/drawingml/2006/main">
            <a:off x="5791200" y="1885950"/>
            <a:ext cx="552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007B83"/>
                </a:solidFill>
                <a:latin typeface="Arial"/>
                <a:ea typeface="Arial"/>
                <a:cs typeface="Arial"/>
              </a:defRPr>
            </a:pPr>
            <a:r>
              <a:rPr sz="2400" b="1">
                <a:solidFill>
                  <a:srgbClr val="007B83"/>
                </a:solidFill>
                <a:latin typeface="Arial"/>
                <a:ea typeface="Arial"/>
                <a:cs typeface="Arial"/>
              </a:rPr>
              <a:t>Fundstelle: Seite 33</a:t>
            </a:r>
          </a:p>
        </p:txBody>
      </p:sp>
      <p:sp>
        <p:nvSpPr>
          <p:cNvPr id="5" name="">
            <a:extLst xmlns:a="http://schemas.openxmlformats.org/drawingml/2006/main">
              <a:ext uri="{FF2B5EF4-FFF2-40B4-BE49-F238E27FC236}">
                <a16:creationId xmlns:a16="http://schemas.microsoft.com/office/drawing/2014/main" id="{2C8239C9-B929-44E1-959F-E216F5B23B2A}"/>
              </a:ext>
            </a:extLst>
          </p:cNvPr>
          <p:cNvSpPr>
            <a:spLocks xmlns:a="http://schemas.openxmlformats.org/drawingml/2006/main" noGrp="1"/>
          </p:cNvSpPr>
          <p:nvPr/>
        </p:nvSpPr>
        <p:spPr>
          <a:xfrm xmlns:a="http://schemas.openxmlformats.org/drawingml/2006/main">
            <a:off x="5791200" y="2838450"/>
            <a:ext cx="54768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E:18 verweist auf die Reinigungsanweisungen auf Seite 30 und 31.</a:t>
            </a:r>
          </a:p>
        </p:txBody>
      </p:sp>
      <p:sp>
        <p:nvSpPr>
          <p:cNvPr id="6" name="">
            <a:extLst xmlns:a="http://schemas.openxmlformats.org/drawingml/2006/main">
              <a:ext uri="{FF2B5EF4-FFF2-40B4-BE49-F238E27FC236}">
                <a16:creationId xmlns:a16="http://schemas.microsoft.com/office/drawing/2014/main" id="{5A65CAF6-E519-41C2-A040-75BBA5527811}"/>
              </a:ext>
            </a:extLst>
          </p:cNvPr>
          <p:cNvSpPr>
            <a:spLocks xmlns:a="http://schemas.openxmlformats.org/drawingml/2006/main" noGrp="1"/>
          </p:cNvSpPr>
          <p:nvPr/>
        </p:nvSpPr>
        <p:spPr>
          <a:xfrm xmlns:a="http://schemas.openxmlformats.org/drawingml/2006/main">
            <a:off x="5791200" y="4286250"/>
            <a:ext cx="5476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E:23 verweist auf den Kundendienst auf Seite 36.</a:t>
            </a:r>
          </a:p>
        </p:txBody>
      </p:sp>
    </p:spTree>
    <p:extLst>
      <p:ext uri="{BB962C8B-B14F-4D97-AF65-F5344CB8AC3E}">
        <p14:creationId xmlns:p14="http://schemas.microsoft.com/office/powerpoint/2010/main" val="94828584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BEB4CF5-CE6D-4168-BD66-A3C17300BC44}"/>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Ein Projekt, zwei Antwortmodelle</a:t>
            </a:r>
          </a:p>
        </p:txBody>
      </p:sp>
      <p:sp>
        <p:nvSpPr>
          <p:cNvPr id="2" name="">
            <a:extLst xmlns:a="http://schemas.openxmlformats.org/drawingml/2006/main">
              <a:ext uri="{FF2B5EF4-FFF2-40B4-BE49-F238E27FC236}">
                <a16:creationId xmlns:a16="http://schemas.microsoft.com/office/drawing/2014/main" id="{E76162A3-54C9-41F9-A5FD-799CE6ADA24D}"/>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37D2134B-5CF5-476C-BD83-1CE42635B12D}"/>
              </a:ext>
            </a:extLst>
          </p:cNvPr>
          <p:cNvSpPr>
            <a:spLocks xmlns:a="http://schemas.openxmlformats.org/drawingml/2006/main" noGrp="1"/>
          </p:cNvSpPr>
          <p:nvPr/>
        </p:nvSpPr>
        <p:spPr>
          <a:xfrm xmlns:a="http://schemas.openxmlformats.org/drawingml/2006/main">
            <a:off x="609600" y="2809875"/>
            <a:ext cx="22860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Browser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Port 3001</a:t>
            </a:r>
          </a:p>
        </p:txBody>
      </p:sp>
      <p:sp>
        <p:nvSpPr>
          <p:cNvPr id="4" name="">
            <a:extLst xmlns:a="http://schemas.openxmlformats.org/drawingml/2006/main">
              <a:ext uri="{FF2B5EF4-FFF2-40B4-BE49-F238E27FC236}">
                <a16:creationId xmlns:a16="http://schemas.microsoft.com/office/drawing/2014/main" id="{7C75A168-9577-452E-9890-3EF50FC39BDD}"/>
              </a:ext>
            </a:extLst>
          </p:cNvPr>
          <p:cNvSpPr>
            <a:spLocks xmlns:a="http://schemas.openxmlformats.org/drawingml/2006/main" noGrp="1"/>
          </p:cNvSpPr>
          <p:nvPr/>
        </p:nvSpPr>
        <p:spPr>
          <a:xfrm xmlns:a="http://schemas.openxmlformats.org/drawingml/2006/main">
            <a:off x="3524250" y="2809875"/>
            <a:ext cx="26670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Flask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lokales Retrieval</a:t>
            </a:r>
          </a:p>
        </p:txBody>
      </p:sp>
      <p:sp>
        <p:nvSpPr>
          <p:cNvPr id="5" name="">
            <a:extLst xmlns:a="http://schemas.openxmlformats.org/drawingml/2006/main">
              <a:ext uri="{FF2B5EF4-FFF2-40B4-BE49-F238E27FC236}">
                <a16:creationId xmlns:a16="http://schemas.microsoft.com/office/drawing/2014/main" id="{4BF4AFB6-25E4-4DEF-84E4-F3BD22BE2B40}"/>
              </a:ext>
            </a:extLst>
          </p:cNvPr>
          <p:cNvSpPr>
            <a:spLocks xmlns:a="http://schemas.openxmlformats.org/drawingml/2006/main" noGrp="1"/>
          </p:cNvSpPr>
          <p:nvPr/>
        </p:nvSpPr>
        <p:spPr>
          <a:xfrm xmlns:a="http://schemas.openxmlformats.org/drawingml/2006/main">
            <a:off x="7791450" y="1914525"/>
            <a:ext cx="34290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LM Studio</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LocalLLM-Client</a:t>
            </a:r>
          </a:p>
        </p:txBody>
      </p:sp>
      <p:sp>
        <p:nvSpPr>
          <p:cNvPr id="6" name="">
            <a:extLst xmlns:a="http://schemas.openxmlformats.org/drawingml/2006/main">
              <a:ext uri="{FF2B5EF4-FFF2-40B4-BE49-F238E27FC236}">
                <a16:creationId xmlns:a16="http://schemas.microsoft.com/office/drawing/2014/main" id="{B60B94AB-7047-4279-8142-71E8113DE65D}"/>
              </a:ext>
            </a:extLst>
          </p:cNvPr>
          <p:cNvSpPr>
            <a:spLocks xmlns:a="http://schemas.openxmlformats.org/drawingml/2006/main" noGrp="1"/>
          </p:cNvSpPr>
          <p:nvPr/>
        </p:nvSpPr>
        <p:spPr>
          <a:xfrm xmlns:a="http://schemas.openxmlformats.org/drawingml/2006/main">
            <a:off x="7791450" y="3924300"/>
            <a:ext cx="34290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OpenAI API</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OpenAILLM-Client</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2895600" y="3357563"/>
            <a:ext cx="62865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flipV="1">
            <a:off x="6191250" y="2462213"/>
            <a:ext cx="1600200" cy="895350"/>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4" idx="3"/>
            <a:endCxn xmlns:a="http://schemas.openxmlformats.org/drawingml/2006/main" id="6" idx="1"/>
          </p:cNvCxnSpPr>
          <p:nvPr/>
        </p:nvCxnSpPr>
        <p:spPr>
          <a:xfrm xmlns:a="http://schemas.openxmlformats.org/drawingml/2006/main">
            <a:off x="6191250" y="3357563"/>
            <a:ext cx="1600200" cy="1114425"/>
          </a:xfrm>
          <a:prstGeom xmlns:a="http://schemas.openxmlformats.org/drawingml/2006/main" prst="bentConnector3">
            <a:avLst>
              <a:gd name="adj1" fmla="val 50000"/>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562EE877-E5F0-49BF-810D-61581D1B2FDD}"/>
              </a:ext>
            </a:extLst>
          </p:cNvPr>
          <p:cNvSpPr>
            <a:spLocks xmlns:a="http://schemas.openxmlformats.org/drawingml/2006/main" noGrp="1"/>
          </p:cNvSpPr>
          <p:nvPr/>
        </p:nvSpPr>
        <p:spPr>
          <a:xfrm xmlns:a="http://schemas.openxmlformats.org/drawingml/2006/main">
            <a:off x="609600" y="15240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GUI-Umschalter: Lokal (LM Studio) oder OpenAI API</a:t>
            </a:r>
          </a:p>
        </p:txBody>
      </p:sp>
      <p:sp>
        <p:nvSpPr>
          <p:cNvPr id="11" name="">
            <a:extLst xmlns:a="http://schemas.openxmlformats.org/drawingml/2006/main">
              <a:ext uri="{FF2B5EF4-FFF2-40B4-BE49-F238E27FC236}">
                <a16:creationId xmlns:a16="http://schemas.microsoft.com/office/drawing/2014/main" id="{0C724BDF-9FD2-4E44-BD83-44584A25FBD7}"/>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OPENAI_MODEL ist konfigurierbar. Voreinstellung: gpt-4.1-mini.</a:t>
            </a:r>
          </a:p>
        </p:txBody>
      </p:sp>
    </p:spTree>
    <p:extLst>
      <p:ext uri="{BB962C8B-B14F-4D97-AF65-F5344CB8AC3E}">
        <p14:creationId xmlns:p14="http://schemas.microsoft.com/office/powerpoint/2010/main" val="79821313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8A36DCF-00EF-4668-98DA-B8F582BBEB11}"/>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Architektur der LM-Studio-Variante</a:t>
            </a:r>
          </a:p>
        </p:txBody>
      </p:sp>
      <p:sp>
        <p:nvSpPr>
          <p:cNvPr id="2" name="">
            <a:extLst xmlns:a="http://schemas.openxmlformats.org/drawingml/2006/main">
              <a:ext uri="{FF2B5EF4-FFF2-40B4-BE49-F238E27FC236}">
                <a16:creationId xmlns:a16="http://schemas.microsoft.com/office/drawing/2014/main" id="{F3C908EA-0A3E-4CA8-A36D-5D911FEC33CB}"/>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3B89230F-F88D-40EF-A077-93231BE7B78F}"/>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Browser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Port 3001</a:t>
            </a:r>
          </a:p>
        </p:txBody>
      </p:sp>
      <p:sp>
        <p:nvSpPr>
          <p:cNvPr id="4" name="">
            <a:extLst xmlns:a="http://schemas.openxmlformats.org/drawingml/2006/main">
              <a:ext uri="{FF2B5EF4-FFF2-40B4-BE49-F238E27FC236}">
                <a16:creationId xmlns:a16="http://schemas.microsoft.com/office/drawing/2014/main" id="{1D825966-1F37-40CE-9286-D65AB671ECFF}"/>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Flask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lokales Retrieval</a:t>
            </a:r>
          </a:p>
        </p:txBody>
      </p:sp>
      <p:sp>
        <p:nvSpPr>
          <p:cNvPr id="5" name="">
            <a:extLst xmlns:a="http://schemas.openxmlformats.org/drawingml/2006/main">
              <a:ext uri="{FF2B5EF4-FFF2-40B4-BE49-F238E27FC236}">
                <a16:creationId xmlns:a16="http://schemas.microsoft.com/office/drawing/2014/main" id="{8A6D9FEB-20D5-498B-827F-AF39338DFADE}"/>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LM Studio</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Port 1234</a:t>
            </a:r>
          </a:p>
        </p:txBody>
      </p:sp>
      <p:sp>
        <p:nvSpPr>
          <p:cNvPr id="6" name="">
            <a:extLst xmlns:a="http://schemas.openxmlformats.org/drawingml/2006/main">
              <a:ext uri="{FF2B5EF4-FFF2-40B4-BE49-F238E27FC236}">
                <a16:creationId xmlns:a16="http://schemas.microsoft.com/office/drawing/2014/main" id="{47070A57-9C5C-4E71-8281-C7E834A9776F}"/>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Geladenes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Instruct-Modell</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64E2A206-E562-41E5-850A-E7EDF155C444}"/>
              </a:ext>
            </a:extLst>
          </p:cNvPr>
          <p:cNvSpPr>
            <a:spLocks xmlns:a="http://schemas.openxmlformats.org/drawingml/2006/main" noGrp="1"/>
          </p:cNvSpPr>
          <p:nvPr/>
        </p:nvSpPr>
        <p:spPr>
          <a:xfrm xmlns:a="http://schemas.openxmlformats.org/drawingml/2006/main">
            <a:off x="609600" y="1590675"/>
            <a:ext cx="107156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007B83"/>
                </a:solidFill>
                <a:latin typeface="Arial"/>
                <a:ea typeface="Arial"/>
                <a:cs typeface="Arial"/>
              </a:defRPr>
            </a:pPr>
            <a:r>
              <a:rPr sz="2100" b="1">
                <a:solidFill>
                  <a:srgbClr val="007B83"/>
                </a:solidFill>
                <a:latin typeface="Arial"/>
                <a:ea typeface="Arial"/>
                <a:cs typeface="Arial"/>
              </a:rPr>
              <a:t>Empfohlener Aufbau für deinen Mac: App und LM Studio auf demselben Gerät</a:t>
            </a:r>
          </a:p>
        </p:txBody>
      </p:sp>
      <p:sp>
        <p:nvSpPr>
          <p:cNvPr id="11" name="">
            <a:extLst xmlns:a="http://schemas.openxmlformats.org/drawingml/2006/main">
              <a:ext uri="{FF2B5EF4-FFF2-40B4-BE49-F238E27FC236}">
                <a16:creationId xmlns:a16="http://schemas.microsoft.com/office/drawing/2014/main" id="{4B6747E6-B650-47B8-BA28-9C40071B87B6}"/>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Modell-ID aus LM Studio übernehmen. Automatische Auswahl nur bei genau einem Chatmodell.</a:t>
            </a:r>
          </a:p>
        </p:txBody>
      </p:sp>
    </p:spTree>
    <p:extLst>
      <p:ext uri="{BB962C8B-B14F-4D97-AF65-F5344CB8AC3E}">
        <p14:creationId xmlns:p14="http://schemas.microsoft.com/office/powerpoint/2010/main" val="12636424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5D62966-B718-4D45-BE65-7FF1A67499A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OpenAI und LM Studio im Vergleich</a:t>
            </a:r>
          </a:p>
        </p:txBody>
      </p:sp>
      <p:sp>
        <p:nvSpPr>
          <p:cNvPr id="2" name="">
            <a:extLst xmlns:a="http://schemas.openxmlformats.org/drawingml/2006/main">
              <a:ext uri="{FF2B5EF4-FFF2-40B4-BE49-F238E27FC236}">
                <a16:creationId xmlns:a16="http://schemas.microsoft.com/office/drawing/2014/main" id="{5F46EAB2-DFB0-4940-9CB4-9D5B0DFEA7D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18</a:t>
            </a:r>
          </a:p>
        </p:txBody>
      </p:sp>
      <p:graphicFrame>
        <p:nvGraphicFramePr>
          <p:cNvPr id="6" name=""/>
          <p:cNvGraphicFramePr/>
          <p:nvPr/>
        </p:nvGraphicFramePr>
        <p:xfrm>
          <a:off xmlns:a="http://schemas.openxmlformats.org/drawingml/2006/main" x="609600" y="1590675"/>
          <a:ext xmlns:a="http://schemas.openxmlformats.org/drawingml/2006/main" cx="10972800" cy="3838575"/>
        </p:xfrm>
        <a:graphic xmlns:a="http://schemas.openxmlformats.org/drawingml/2006/main">
          <a:graphicData uri="http://schemas.openxmlformats.org/drawingml/2006/table">
            <a:tbl>
              <a:tblPr/>
              <a:tblGrid>
                <a:gridCol w="2762250"/>
                <a:gridCol w="3905250"/>
                <a:gridCol w="4305300"/>
              </a:tblGrid>
              <a:tr h="639763">
                <a:tc>
                  <a:txBody>
                    <a:bodyPr/>
                    <a:lstStyle/>
                    <a:p>
                      <a:r>
                        <a:rPr sz="1800" b="1">
                          <a:solidFill>
                            <a:srgbClr val="152D3A"/>
                          </a:solidFill>
                          <a:latin typeface="Arial"/>
                          <a:ea typeface="Arial"/>
                          <a:cs typeface="Arial"/>
                        </a:rPr>
                        <a:t>Eigenschaft</a:t>
                      </a:r>
                    </a:p>
                  </a:txBody>
                  <a:tcPr marL="91440" marR="91440" marT="45720" marB="45720">
                    <a:solidFill>
                      <a:srgbClr val="EDF6F6"/>
                    </a:solidFill>
                  </a:tcPr>
                </a:tc>
                <a:tc>
                  <a:txBody>
                    <a:bodyPr/>
                    <a:lstStyle/>
                    <a:p>
                      <a:r>
                        <a:rPr sz="1800" b="1">
                          <a:solidFill>
                            <a:srgbClr val="152D3A"/>
                          </a:solidFill>
                          <a:latin typeface="Arial"/>
                          <a:ea typeface="Arial"/>
                          <a:cs typeface="Arial"/>
                        </a:rPr>
                        <a:t>OpenAI API</a:t>
                      </a:r>
                    </a:p>
                  </a:txBody>
                  <a:tcPr marL="91440" marR="91440" marT="45720" marB="45720">
                    <a:solidFill>
                      <a:srgbClr val="EDF6F6"/>
                    </a:solidFill>
                  </a:tcPr>
                </a:tc>
                <a:tc>
                  <a:txBody>
                    <a:bodyPr/>
                    <a:lstStyle/>
                    <a:p>
                      <a:r>
                        <a:rPr sz="1800" b="1">
                          <a:solidFill>
                            <a:srgbClr val="152D3A"/>
                          </a:solidFill>
                          <a:latin typeface="Arial"/>
                          <a:ea typeface="Arial"/>
                          <a:cs typeface="Arial"/>
                        </a:rPr>
                        <a:t>LM Studio</a:t>
                      </a:r>
                    </a:p>
                  </a:txBody>
                  <a:tcPr marL="91440" marR="91440" marT="45720" marB="45720">
                    <a:solidFill>
                      <a:srgbClr val="EDF6F6"/>
                    </a:solidFill>
                  </a:tcPr>
                </a:tc>
              </a:tr>
              <a:tr h="639763">
                <a:tc>
                  <a:txBody>
                    <a:bodyPr/>
                    <a:lstStyle/>
                    <a:p>
                      <a:r>
                        <a:rPr sz="1800" b="0">
                          <a:solidFill>
                            <a:srgbClr val="152D3A"/>
                          </a:solidFill>
                          <a:latin typeface="Arial"/>
                          <a:ea typeface="Arial"/>
                          <a:cs typeface="Arial"/>
                        </a:rPr>
                        <a:t>Antwortberechnung</a:t>
                      </a:r>
                    </a:p>
                  </a:txBody>
                  <a:tcPr marL="91440" marR="91440" marT="45720" marB="45720">
                    <a:solidFill>
                      <a:srgbClr val="FFFFFF"/>
                    </a:solidFill>
                  </a:tcPr>
                </a:tc>
                <a:tc>
                  <a:txBody>
                    <a:bodyPr/>
                    <a:lstStyle/>
                    <a:p>
                      <a:r>
                        <a:rPr sz="1800" b="0">
                          <a:solidFill>
                            <a:srgbClr val="152D3A"/>
                          </a:solidFill>
                          <a:latin typeface="Arial"/>
                          <a:ea typeface="Arial"/>
                          <a:cs typeface="Arial"/>
                        </a:rPr>
                        <a:t>Beim API-Anbieter</a:t>
                      </a:r>
                    </a:p>
                  </a:txBody>
                  <a:tcPr marL="91440" marR="91440" marT="45720" marB="45720">
                    <a:solidFill>
                      <a:srgbClr val="FFFFFF"/>
                    </a:solidFill>
                  </a:tcPr>
                </a:tc>
                <a:tc>
                  <a:txBody>
                    <a:bodyPr/>
                    <a:lstStyle/>
                    <a:p>
                      <a:r>
                        <a:rPr sz="1800" b="0">
                          <a:solidFill>
                            <a:srgbClr val="152D3A"/>
                          </a:solidFill>
                          <a:latin typeface="Arial"/>
                          <a:ea typeface="Arial"/>
                          <a:cs typeface="Arial"/>
                        </a:rPr>
                        <a:t>Auf dem Modellrechner</a:t>
                      </a:r>
                    </a:p>
                  </a:txBody>
                  <a:tcPr marL="91440" marR="91440" marT="45720" marB="45720">
                    <a:solidFill>
                      <a:srgbClr val="FFFFFF"/>
                    </a:solidFill>
                  </a:tcPr>
                </a:tc>
              </a:tr>
              <a:tr h="639763">
                <a:tc>
                  <a:txBody>
                    <a:bodyPr/>
                    <a:lstStyle/>
                    <a:p>
                      <a:r>
                        <a:rPr sz="1800" b="0">
                          <a:solidFill>
                            <a:srgbClr val="152D3A"/>
                          </a:solidFill>
                          <a:latin typeface="Arial"/>
                          <a:ea typeface="Arial"/>
                          <a:cs typeface="Arial"/>
                        </a:rPr>
                        <a:t>Suchindex / Embeddings</a:t>
                      </a:r>
                    </a:p>
                  </a:txBody>
                  <a:tcPr marL="91440" marR="91440" marT="45720" marB="45720">
                    <a:solidFill>
                      <a:srgbClr val="FFFFFF"/>
                    </a:solidFill>
                  </a:tcPr>
                </a:tc>
                <a:tc>
                  <a:txBody>
                    <a:bodyPr/>
                    <a:lstStyle/>
                    <a:p>
                      <a:r>
                        <a:rPr sz="1800" b="0">
                          <a:solidFill>
                            <a:srgbClr val="152D3A"/>
                          </a:solidFill>
                          <a:latin typeface="Arial"/>
                          <a:ea typeface="Arial"/>
                          <a:cs typeface="Arial"/>
                        </a:rPr>
                        <a:t>Lokal</a:t>
                      </a:r>
                    </a:p>
                  </a:txBody>
                  <a:tcPr marL="91440" marR="91440" marT="45720" marB="45720">
                    <a:solidFill>
                      <a:srgbClr val="FFFFFF"/>
                    </a:solidFill>
                  </a:tcPr>
                </a:tc>
                <a:tc>
                  <a:txBody>
                    <a:bodyPr/>
                    <a:lstStyle/>
                    <a:p>
                      <a:r>
                        <a:rPr sz="1800" b="0">
                          <a:solidFill>
                            <a:srgbClr val="152D3A"/>
                          </a:solidFill>
                          <a:latin typeface="Arial"/>
                          <a:ea typeface="Arial"/>
                          <a:cs typeface="Arial"/>
                        </a:rPr>
                        <a:t>Lokal</a:t>
                      </a:r>
                    </a:p>
                  </a:txBody>
                  <a:tcPr marL="91440" marR="91440" marT="45720" marB="45720">
                    <a:solidFill>
                      <a:srgbClr val="FFFFFF"/>
                    </a:solidFill>
                  </a:tcPr>
                </a:tc>
              </a:tr>
              <a:tr h="639763">
                <a:tc>
                  <a:txBody>
                    <a:bodyPr/>
                    <a:lstStyle/>
                    <a:p>
                      <a:r>
                        <a:rPr sz="1800" b="0">
                          <a:solidFill>
                            <a:srgbClr val="152D3A"/>
                          </a:solidFill>
                          <a:latin typeface="Arial"/>
                          <a:ea typeface="Arial"/>
                          <a:cs typeface="Arial"/>
                        </a:rPr>
                        <a:t>Übertragene Inhalte</a:t>
                      </a:r>
                    </a:p>
                  </a:txBody>
                  <a:tcPr marL="91440" marR="91440" marT="45720" marB="45720">
                    <a:solidFill>
                      <a:srgbClr val="FFFFFF"/>
                    </a:solidFill>
                  </a:tcPr>
                </a:tc>
                <a:tc>
                  <a:txBody>
                    <a:bodyPr/>
                    <a:lstStyle/>
                    <a:p>
                      <a:r>
                        <a:rPr sz="1800" b="0">
                          <a:solidFill>
                            <a:srgbClr val="152D3A"/>
                          </a:solidFill>
                          <a:latin typeface="Arial"/>
                          <a:ea typeface="Arial"/>
                          <a:cs typeface="Arial"/>
                        </a:rPr>
                        <a:t>Frage und ausgewählte Auszüge</a:t>
                      </a:r>
                    </a:p>
                  </a:txBody>
                  <a:tcPr marL="91440" marR="91440" marT="45720" marB="45720">
                    <a:solidFill>
                      <a:srgbClr val="FFFFFF"/>
                    </a:solidFill>
                  </a:tcPr>
                </a:tc>
                <a:tc>
                  <a:txBody>
                    <a:bodyPr/>
                    <a:lstStyle/>
                    <a:p>
                      <a:r>
                        <a:rPr sz="1800" b="0">
                          <a:solidFill>
                            <a:srgbClr val="152D3A"/>
                          </a:solidFill>
                          <a:latin typeface="Arial"/>
                          <a:ea typeface="Arial"/>
                          <a:cs typeface="Arial"/>
                        </a:rPr>
                        <a:t>An den konfigurierten Endpoint</a:t>
                      </a:r>
                    </a:p>
                  </a:txBody>
                  <a:tcPr marL="91440" marR="91440" marT="45720" marB="45720">
                    <a:solidFill>
                      <a:srgbClr val="FFFFFF"/>
                    </a:solidFill>
                  </a:tcPr>
                </a:tc>
              </a:tr>
              <a:tr h="639763">
                <a:tc>
                  <a:txBody>
                    <a:bodyPr/>
                    <a:lstStyle/>
                    <a:p>
                      <a:r>
                        <a:rPr sz="1800" b="0">
                          <a:solidFill>
                            <a:srgbClr val="152D3A"/>
                          </a:solidFill>
                          <a:latin typeface="Arial"/>
                          <a:ea typeface="Arial"/>
                          <a:cs typeface="Arial"/>
                        </a:rPr>
                        <a:t>Betriebsaufwand</a:t>
                      </a:r>
                    </a:p>
                  </a:txBody>
                  <a:tcPr marL="91440" marR="91440" marT="45720" marB="45720">
                    <a:solidFill>
                      <a:srgbClr val="FFFFFF"/>
                    </a:solidFill>
                  </a:tcPr>
                </a:tc>
                <a:tc>
                  <a:txBody>
                    <a:bodyPr/>
                    <a:lstStyle/>
                    <a:p>
                      <a:r>
                        <a:rPr sz="1800" b="0">
                          <a:solidFill>
                            <a:srgbClr val="152D3A"/>
                          </a:solidFill>
                          <a:latin typeface="Arial"/>
                          <a:ea typeface="Arial"/>
                          <a:cs typeface="Arial"/>
                        </a:rPr>
                        <a:t>API-Schlüssel, Netzwerk, Nutzungskosten</a:t>
                      </a:r>
                    </a:p>
                  </a:txBody>
                  <a:tcPr marL="91440" marR="91440" marT="45720" marB="45720">
                    <a:solidFill>
                      <a:srgbClr val="FFFFFF"/>
                    </a:solidFill>
                  </a:tcPr>
                </a:tc>
                <a:tc>
                  <a:txBody>
                    <a:bodyPr/>
                    <a:lstStyle/>
                    <a:p>
                      <a:r>
                        <a:rPr sz="1800" b="0">
                          <a:solidFill>
                            <a:srgbClr val="152D3A"/>
                          </a:solidFill>
                          <a:latin typeface="Arial"/>
                          <a:ea typeface="Arial"/>
                          <a:cs typeface="Arial"/>
                        </a:rPr>
                        <a:t>Modell, RAM / GPU, Energie</a:t>
                      </a:r>
                    </a:p>
                  </a:txBody>
                  <a:tcPr marL="91440" marR="91440" marT="45720" marB="45720">
                    <a:solidFill>
                      <a:srgbClr val="FFFFFF"/>
                    </a:solidFill>
                  </a:tcPr>
                </a:tc>
              </a:tr>
              <a:tr h="639763">
                <a:tc>
                  <a:txBody>
                    <a:bodyPr/>
                    <a:lstStyle/>
                    <a:p>
                      <a:r>
                        <a:rPr sz="1800" b="0">
                          <a:solidFill>
                            <a:srgbClr val="152D3A"/>
                          </a:solidFill>
                          <a:latin typeface="Arial"/>
                          <a:ea typeface="Arial"/>
                          <a:cs typeface="Arial"/>
                        </a:rPr>
                        <a:t>Modellwechsel</a:t>
                      </a:r>
                    </a:p>
                  </a:txBody>
                  <a:tcPr marL="91440" marR="91440" marT="45720" marB="45720">
                    <a:solidFill>
                      <a:srgbClr val="FFFFFF"/>
                    </a:solidFill>
                  </a:tcPr>
                </a:tc>
                <a:tc>
                  <a:txBody>
                    <a:bodyPr/>
                    <a:lstStyle/>
                    <a:p>
                      <a:r>
                        <a:rPr sz="1800" b="0">
                          <a:solidFill>
                            <a:srgbClr val="152D3A"/>
                          </a:solidFill>
                          <a:latin typeface="Arial"/>
                          <a:ea typeface="Arial"/>
                          <a:cs typeface="Arial"/>
                        </a:rPr>
                        <a:t>OPENAI_MODEL</a:t>
                      </a:r>
                    </a:p>
                  </a:txBody>
                  <a:tcPr marL="91440" marR="91440" marT="45720" marB="45720">
                    <a:solidFill>
                      <a:srgbClr val="FFFFFF"/>
                    </a:solidFill>
                  </a:tcPr>
                </a:tc>
                <a:tc>
                  <a:txBody>
                    <a:bodyPr/>
                    <a:lstStyle/>
                    <a:p>
                      <a:r>
                        <a:rPr sz="1800" b="0">
                          <a:solidFill>
                            <a:srgbClr val="152D3A"/>
                          </a:solidFill>
                          <a:latin typeface="Arial"/>
                          <a:ea typeface="Arial"/>
                          <a:cs typeface="Arial"/>
                        </a:rPr>
                        <a:t>LOCAL_LLM_MODEL</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3396228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611C25-65BF-4E71-8309-85235DE42083}"/>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PageIndex: Auswahl über Dokumentstruktur</a:t>
            </a:r>
          </a:p>
        </p:txBody>
      </p:sp>
      <p:sp>
        <p:nvSpPr>
          <p:cNvPr id="2" name="">
            <a:extLst xmlns:a="http://schemas.openxmlformats.org/drawingml/2006/main">
              <a:ext uri="{FF2B5EF4-FFF2-40B4-BE49-F238E27FC236}">
                <a16:creationId xmlns:a16="http://schemas.microsoft.com/office/drawing/2014/main" id="{4CC4B678-6B66-494B-9B3C-A8FE851B87C3}"/>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19</a:t>
            </a:r>
          </a:p>
        </p:txBody>
      </p:sp>
      <p:sp>
        <p:nvSpPr>
          <p:cNvPr id="3" name="">
            <a:extLst xmlns:a="http://schemas.openxmlformats.org/drawingml/2006/main">
              <a:ext uri="{FF2B5EF4-FFF2-40B4-BE49-F238E27FC236}">
                <a16:creationId xmlns:a16="http://schemas.microsoft.com/office/drawing/2014/main" id="{7A690E8F-1CC9-4146-B23E-520FBC31ADCC}"/>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Abschnittstitel</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und Summaries</a:t>
            </a:r>
          </a:p>
        </p:txBody>
      </p:sp>
      <p:sp>
        <p:nvSpPr>
          <p:cNvPr id="4" name="">
            <a:extLst xmlns:a="http://schemas.openxmlformats.org/drawingml/2006/main">
              <a:ext uri="{FF2B5EF4-FFF2-40B4-BE49-F238E27FC236}">
                <a16:creationId xmlns:a16="http://schemas.microsoft.com/office/drawing/2014/main" id="{361A3691-65F1-45C9-8ECA-500AEB35FEB9}"/>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LLM wählt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gültige Node-IDs</a:t>
            </a:r>
          </a:p>
        </p:txBody>
      </p:sp>
      <p:sp>
        <p:nvSpPr>
          <p:cNvPr id="5" name="">
            <a:extLst xmlns:a="http://schemas.openxmlformats.org/drawingml/2006/main">
              <a:ext uri="{FF2B5EF4-FFF2-40B4-BE49-F238E27FC236}">
                <a16:creationId xmlns:a16="http://schemas.microsoft.com/office/drawing/2014/main" id="{3D97C790-CBDA-40BB-AF20-0099253E925C}"/>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Originaltexte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zusammenstellen</a:t>
            </a:r>
          </a:p>
        </p:txBody>
      </p:sp>
      <p:sp>
        <p:nvSpPr>
          <p:cNvPr id="6" name="">
            <a:extLst xmlns:a="http://schemas.openxmlformats.org/drawingml/2006/main">
              <a:ext uri="{FF2B5EF4-FFF2-40B4-BE49-F238E27FC236}">
                <a16:creationId xmlns:a16="http://schemas.microsoft.com/office/drawing/2014/main" id="{FA764C15-17F7-4D6C-979A-364069FC8C03}"/>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Antwort-LLM</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4A742EF1-1249-4E60-8401-8E377625A79A}"/>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Der gespeicherte Baum besitzt 187 Nodes. Eine Auswahl ist noch keine bestätigte Antwort.</a:t>
            </a:r>
          </a:p>
        </p:txBody>
      </p:sp>
    </p:spTree>
    <p:extLst>
      <p:ext uri="{BB962C8B-B14F-4D97-AF65-F5344CB8AC3E}">
        <p14:creationId xmlns:p14="http://schemas.microsoft.com/office/powerpoint/2010/main" val="96193251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E56F203-A23D-4CE8-AFE5-C8BFF6FAD4BA}"/>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PageIndex: Batches und globale Auswahl</a:t>
            </a:r>
          </a:p>
        </p:txBody>
      </p:sp>
      <p:sp>
        <p:nvSpPr>
          <p:cNvPr id="2" name="">
            <a:extLst xmlns:a="http://schemas.openxmlformats.org/drawingml/2006/main">
              <a:ext uri="{FF2B5EF4-FFF2-40B4-BE49-F238E27FC236}">
                <a16:creationId xmlns:a16="http://schemas.microsoft.com/office/drawing/2014/main" id="{78D11E5D-9C90-47F8-82C4-3F92CAE8F524}"/>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20</a:t>
            </a:r>
          </a:p>
        </p:txBody>
      </p:sp>
      <p:sp>
        <p:nvSpPr>
          <p:cNvPr id="3" name="">
            <a:extLst xmlns:a="http://schemas.openxmlformats.org/drawingml/2006/main">
              <a:ext uri="{FF2B5EF4-FFF2-40B4-BE49-F238E27FC236}">
                <a16:creationId xmlns:a16="http://schemas.microsoft.com/office/drawing/2014/main" id="{F7BB50BA-DF39-40CC-8AF4-9CEC203BAEB0}"/>
              </a:ext>
            </a:extLst>
          </p:cNvPr>
          <p:cNvSpPr>
            <a:spLocks xmlns:a="http://schemas.openxmlformats.org/drawingml/2006/main" noGrp="1"/>
          </p:cNvSpPr>
          <p:nvPr/>
        </p:nvSpPr>
        <p:spPr>
          <a:xfrm xmlns:a="http://schemas.openxmlformats.org/drawingml/2006/main">
            <a:off x="609600" y="1685925"/>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007B83"/>
                </a:solidFill>
                <a:latin typeface="Arial"/>
                <a:ea typeface="Arial"/>
                <a:cs typeface="Arial"/>
              </a:defRPr>
            </a:pPr>
            <a:r>
              <a:rPr sz="2400" b="1">
                <a:solidFill>
                  <a:srgbClr val="007B83"/>
                </a:solidFill>
                <a:latin typeface="Arial"/>
                <a:ea typeface="Arial"/>
                <a:cs typeface="Arial"/>
              </a:rPr>
              <a:t>187 Abschnitte / 30 je Batch = 7 Auswahlaufrufe</a:t>
            </a:r>
          </a:p>
        </p:txBody>
      </p:sp>
      <p:sp>
        <p:nvSpPr>
          <p:cNvPr id="4" name="">
            <a:extLst xmlns:a="http://schemas.openxmlformats.org/drawingml/2006/main">
              <a:ext uri="{FF2B5EF4-FFF2-40B4-BE49-F238E27FC236}">
                <a16:creationId xmlns:a16="http://schemas.microsoft.com/office/drawing/2014/main" id="{B51619CE-BD3E-48CA-AF1C-EA406315AC3E}"/>
              </a:ext>
            </a:extLst>
          </p:cNvPr>
          <p:cNvSpPr>
            <a:spLocks xmlns:a="http://schemas.openxmlformats.org/drawingml/2006/main" noGrp="1"/>
          </p:cNvSpPr>
          <p:nvPr/>
        </p:nvSpPr>
        <p:spPr>
          <a:xfrm xmlns:a="http://schemas.openxmlformats.org/drawingml/2006/main">
            <a:off x="609600" y="28670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7 Batches</a:t>
            </a:r>
          </a:p>
        </p:txBody>
      </p:sp>
      <p:sp>
        <p:nvSpPr>
          <p:cNvPr id="5" name="">
            <a:extLst xmlns:a="http://schemas.openxmlformats.org/drawingml/2006/main">
              <a:ext uri="{FF2B5EF4-FFF2-40B4-BE49-F238E27FC236}">
                <a16:creationId xmlns:a16="http://schemas.microsoft.com/office/drawing/2014/main" id="{177FBD14-647F-49FF-9B42-0FE0D32E18FC}"/>
              </a:ext>
            </a:extLst>
          </p:cNvPr>
          <p:cNvSpPr>
            <a:spLocks xmlns:a="http://schemas.openxmlformats.org/drawingml/2006/main" noGrp="1"/>
          </p:cNvSpPr>
          <p:nvPr/>
        </p:nvSpPr>
        <p:spPr>
          <a:xfrm xmlns:a="http://schemas.openxmlformats.org/drawingml/2006/main">
            <a:off x="3448050" y="28670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Kandidaten</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zusammenführen</a:t>
            </a:r>
          </a:p>
        </p:txBody>
      </p:sp>
      <p:sp>
        <p:nvSpPr>
          <p:cNvPr id="6" name="">
            <a:extLst xmlns:a="http://schemas.openxmlformats.org/drawingml/2006/main">
              <a:ext uri="{FF2B5EF4-FFF2-40B4-BE49-F238E27FC236}">
                <a16:creationId xmlns:a16="http://schemas.microsoft.com/office/drawing/2014/main" id="{C868201F-4B4A-42F0-B29B-8B45110A5510}"/>
              </a:ext>
            </a:extLst>
          </p:cNvPr>
          <p:cNvSpPr>
            <a:spLocks xmlns:a="http://schemas.openxmlformats.org/drawingml/2006/main" noGrp="1"/>
          </p:cNvSpPr>
          <p:nvPr/>
        </p:nvSpPr>
        <p:spPr>
          <a:xfrm xmlns:a="http://schemas.openxmlformats.org/drawingml/2006/main">
            <a:off x="6286500" y="28670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Bei Bedarf</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global auswählen</a:t>
            </a:r>
          </a:p>
        </p:txBody>
      </p:sp>
      <p:sp>
        <p:nvSpPr>
          <p:cNvPr id="7" name="">
            <a:extLst xmlns:a="http://schemas.openxmlformats.org/drawingml/2006/main">
              <a:ext uri="{FF2B5EF4-FFF2-40B4-BE49-F238E27FC236}">
                <a16:creationId xmlns:a16="http://schemas.microsoft.com/office/drawing/2014/main" id="{A4BDA15E-C81A-43EC-898E-EDAE944FDA9F}"/>
              </a:ext>
            </a:extLst>
          </p:cNvPr>
          <p:cNvSpPr>
            <a:spLocks xmlns:a="http://schemas.openxmlformats.org/drawingml/2006/main" noGrp="1"/>
          </p:cNvSpPr>
          <p:nvPr/>
        </p:nvSpPr>
        <p:spPr>
          <a:xfrm xmlns:a="http://schemas.openxmlformats.org/drawingml/2006/main">
            <a:off x="9124950" y="286702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Höchstens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5 Abschnitte</a:t>
            </a:r>
          </a:p>
        </p:txBody>
      </p: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3067050" y="34147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0" name=""/>
          <p:cNvCxnSpPr>
            <a:stCxn xmlns:a="http://schemas.openxmlformats.org/drawingml/2006/main" id="5" idx="3"/>
            <a:endCxn xmlns:a="http://schemas.openxmlformats.org/drawingml/2006/main" id="6" idx="1"/>
          </p:cNvCxnSpPr>
          <p:nvPr/>
        </p:nvCxnSpPr>
        <p:spPr>
          <a:xfrm xmlns:a="http://schemas.openxmlformats.org/drawingml/2006/main">
            <a:off x="5905500" y="34147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21" name=""/>
          <p:cNvCxnSpPr>
            <a:stCxn xmlns:a="http://schemas.openxmlformats.org/drawingml/2006/main" id="6" idx="3"/>
            <a:endCxn xmlns:a="http://schemas.openxmlformats.org/drawingml/2006/main" id="7" idx="1"/>
          </p:cNvCxnSpPr>
          <p:nvPr/>
        </p:nvCxnSpPr>
        <p:spPr>
          <a:xfrm xmlns:a="http://schemas.openxmlformats.org/drawingml/2006/main">
            <a:off x="8743950" y="341471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1" name="">
            <a:extLst xmlns:a="http://schemas.openxmlformats.org/drawingml/2006/main">
              <a:ext uri="{FF2B5EF4-FFF2-40B4-BE49-F238E27FC236}">
                <a16:creationId xmlns:a16="http://schemas.microsoft.com/office/drawing/2014/main" id="{8140FF12-D56D-48EA-971C-9D451B42EE59}"/>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Ungültige IDs, IDs aus fremden Batches und leere Texte zählen nicht als Belege.</a:t>
            </a:r>
          </a:p>
        </p:txBody>
      </p:sp>
    </p:spTree>
    <p:extLst>
      <p:ext uri="{BB962C8B-B14F-4D97-AF65-F5344CB8AC3E}">
        <p14:creationId xmlns:p14="http://schemas.microsoft.com/office/powerpoint/2010/main" val="14015237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2059A6-E3DF-43F9-AC4D-D73B1B1ADE94}"/>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Warum der Index einen Fingerabdruck braucht</a:t>
            </a:r>
          </a:p>
        </p:txBody>
      </p:sp>
      <p:sp>
        <p:nvSpPr>
          <p:cNvPr id="2" name="">
            <a:extLst xmlns:a="http://schemas.openxmlformats.org/drawingml/2006/main">
              <a:ext uri="{FF2B5EF4-FFF2-40B4-BE49-F238E27FC236}">
                <a16:creationId xmlns:a16="http://schemas.microsoft.com/office/drawing/2014/main" id="{9C862D3F-4558-424F-8B63-8E89BC78126C}"/>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21</a:t>
            </a:r>
          </a:p>
        </p:txBody>
      </p:sp>
      <p:sp>
        <p:nvSpPr>
          <p:cNvPr id="3" name="">
            <a:extLst xmlns:a="http://schemas.openxmlformats.org/drawingml/2006/main">
              <a:ext uri="{FF2B5EF4-FFF2-40B4-BE49-F238E27FC236}">
                <a16:creationId xmlns:a16="http://schemas.microsoft.com/office/drawing/2014/main" id="{F93964CF-8C1F-4C44-A14B-F8ACF4C33F35}"/>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Quelldatei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Konfiguration</a:t>
            </a:r>
          </a:p>
        </p:txBody>
      </p:sp>
      <p:sp>
        <p:nvSpPr>
          <p:cNvPr id="4" name="">
            <a:extLst xmlns:a="http://schemas.openxmlformats.org/drawingml/2006/main">
              <a:ext uri="{FF2B5EF4-FFF2-40B4-BE49-F238E27FC236}">
                <a16:creationId xmlns:a16="http://schemas.microsoft.com/office/drawing/2014/main" id="{C063ADF7-3497-4BC1-8748-AA4AC7B9D06C}"/>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SHA-256</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Fingerprint</a:t>
            </a:r>
          </a:p>
        </p:txBody>
      </p:sp>
      <p:sp>
        <p:nvSpPr>
          <p:cNvPr id="5" name="">
            <a:extLst xmlns:a="http://schemas.openxmlformats.org/drawingml/2006/main">
              <a:ext uri="{FF2B5EF4-FFF2-40B4-BE49-F238E27FC236}">
                <a16:creationId xmlns:a16="http://schemas.microsoft.com/office/drawing/2014/main" id="{911EB134-5ED7-43E3-A5B1-31ABBD8D6D42}"/>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Vergleich mit</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Cache-Metadaten</a:t>
            </a:r>
          </a:p>
        </p:txBody>
      </p:sp>
      <p:sp>
        <p:nvSpPr>
          <p:cNvPr id="6" name="">
            <a:extLst xmlns:a="http://schemas.openxmlformats.org/drawingml/2006/main">
              <a:ext uri="{FF2B5EF4-FFF2-40B4-BE49-F238E27FC236}">
                <a16:creationId xmlns:a16="http://schemas.microsoft.com/office/drawing/2014/main" id="{50819039-730F-4EE5-BDFB-C52EF5152FCF}"/>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Laden oder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neu aufbauen</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EF39566C-A0EA-4D16-9D53-403115464168}"/>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Ein geändertes Handbuch darf nicht unbemerkt mit einem alten Index kombiniert werden.</a:t>
            </a:r>
          </a:p>
        </p:txBody>
      </p:sp>
    </p:spTree>
    <p:extLst>
      <p:ext uri="{BB962C8B-B14F-4D97-AF65-F5344CB8AC3E}">
        <p14:creationId xmlns:p14="http://schemas.microsoft.com/office/powerpoint/2010/main" val="24026567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9E7451-7616-4C5A-AEE5-16FFB2219DE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Streaming zwischen Backend und Browser</a:t>
            </a:r>
          </a:p>
        </p:txBody>
      </p:sp>
      <p:sp>
        <p:nvSpPr>
          <p:cNvPr id="2" name="">
            <a:extLst xmlns:a="http://schemas.openxmlformats.org/drawingml/2006/main">
              <a:ext uri="{FF2B5EF4-FFF2-40B4-BE49-F238E27FC236}">
                <a16:creationId xmlns:a16="http://schemas.microsoft.com/office/drawing/2014/main" id="{6103F393-FA18-441D-BE6B-FEDC4ED36AA3}"/>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22</a:t>
            </a:r>
          </a:p>
        </p:txBody>
      </p:sp>
      <p:sp>
        <p:nvSpPr>
          <p:cNvPr id="3" name="">
            <a:extLst xmlns:a="http://schemas.openxmlformats.org/drawingml/2006/main">
              <a:ext uri="{FF2B5EF4-FFF2-40B4-BE49-F238E27FC236}">
                <a16:creationId xmlns:a16="http://schemas.microsoft.com/office/drawing/2014/main" id="{476673FF-F93F-4C0D-B37B-4D8669ED403E}"/>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status</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Suche läuft</a:t>
            </a:r>
          </a:p>
        </p:txBody>
      </p:sp>
      <p:sp>
        <p:nvSpPr>
          <p:cNvPr id="4" name="">
            <a:extLst xmlns:a="http://schemas.openxmlformats.org/drawingml/2006/main">
              <a:ext uri="{FF2B5EF4-FFF2-40B4-BE49-F238E27FC236}">
                <a16:creationId xmlns:a16="http://schemas.microsoft.com/office/drawing/2014/main" id="{82F50BDD-2815-4E50-A638-66B493987275}"/>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meta</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Quellenhinweis</a:t>
            </a:r>
          </a:p>
        </p:txBody>
      </p:sp>
      <p:sp>
        <p:nvSpPr>
          <p:cNvPr id="5" name="">
            <a:extLst xmlns:a="http://schemas.openxmlformats.org/drawingml/2006/main">
              <a:ext uri="{FF2B5EF4-FFF2-40B4-BE49-F238E27FC236}">
                <a16:creationId xmlns:a16="http://schemas.microsoft.com/office/drawing/2014/main" id="{44BAA0BC-1291-4189-AAAB-B38E7F79B87B}"/>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token</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Antwortteile</a:t>
            </a:r>
          </a:p>
        </p:txBody>
      </p:sp>
      <p:sp>
        <p:nvSpPr>
          <p:cNvPr id="6" name="">
            <a:extLst xmlns:a="http://schemas.openxmlformats.org/drawingml/2006/main">
              <a:ext uri="{FF2B5EF4-FFF2-40B4-BE49-F238E27FC236}">
                <a16:creationId xmlns:a16="http://schemas.microsoft.com/office/drawing/2014/main" id="{9F9A26B3-96F1-4342-9849-95B667259BD4}"/>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result / DONE</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Ergebnis</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8ABE5F30-94A0-44AA-8BB6-E34DBECD0A64}"/>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Neue Anfragen brechen alte ab. Ein abgebrochener Stream darf keine fertige Antwort vortäuschen.</a:t>
            </a:r>
          </a:p>
        </p:txBody>
      </p:sp>
    </p:spTree>
    <p:extLst>
      <p:ext uri="{BB962C8B-B14F-4D97-AF65-F5344CB8AC3E}">
        <p14:creationId xmlns:p14="http://schemas.microsoft.com/office/powerpoint/2010/main" val="11586819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754BE6C-CAEC-40A5-AEC8-CEAFA4CAA2A8}"/>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Fehlerkorrekturen im RAG-Kern</a:t>
            </a:r>
          </a:p>
        </p:txBody>
      </p:sp>
      <p:sp>
        <p:nvSpPr>
          <p:cNvPr id="2" name="">
            <a:extLst xmlns:a="http://schemas.openxmlformats.org/drawingml/2006/main">
              <a:ext uri="{FF2B5EF4-FFF2-40B4-BE49-F238E27FC236}">
                <a16:creationId xmlns:a16="http://schemas.microsoft.com/office/drawing/2014/main" id="{D6075455-ADAF-40B5-8CA7-785233E2524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23</a:t>
            </a:r>
          </a:p>
        </p:txBody>
      </p:sp>
      <p:graphicFrame>
        <p:nvGraphicFramePr>
          <p:cNvPr id="6" name=""/>
          <p:cNvGraphicFramePr/>
          <p:nvPr/>
        </p:nvGraphicFramePr>
        <p:xfrm>
          <a:off xmlns:a="http://schemas.openxmlformats.org/drawingml/2006/main" x="609600" y="1619250"/>
          <a:ext xmlns:a="http://schemas.openxmlformats.org/drawingml/2006/main" cx="10972800" cy="4000500"/>
        </p:xfrm>
        <a:graphic xmlns:a="http://schemas.openxmlformats.org/drawingml/2006/main">
          <a:graphicData uri="http://schemas.openxmlformats.org/drawingml/2006/table">
            <a:tbl>
              <a:tblPr/>
              <a:tblGrid>
                <a:gridCol w="4648200"/>
                <a:gridCol w="6324600"/>
              </a:tblGrid>
              <a:tr h="666750">
                <a:tc>
                  <a:txBody>
                    <a:bodyPr/>
                    <a:lstStyle/>
                    <a:p>
                      <a:r>
                        <a:rPr sz="1800" b="1">
                          <a:solidFill>
                            <a:srgbClr val="152D3A"/>
                          </a:solidFill>
                          <a:latin typeface="Arial"/>
                          <a:ea typeface="Arial"/>
                          <a:cs typeface="Arial"/>
                        </a:rPr>
                        <a:t>Befund</a:t>
                      </a:r>
                    </a:p>
                  </a:txBody>
                  <a:tcPr marL="91440" marR="91440" marT="45720" marB="45720">
                    <a:solidFill>
                      <a:srgbClr val="EDF6F6"/>
                    </a:solidFill>
                  </a:tcPr>
                </a:tc>
                <a:tc>
                  <a:txBody>
                    <a:bodyPr/>
                    <a:lstStyle/>
                    <a:p>
                      <a:r>
                        <a:rPr sz="1800" b="1">
                          <a:solidFill>
                            <a:srgbClr val="152D3A"/>
                          </a:solidFill>
                          <a:latin typeface="Arial"/>
                          <a:ea typeface="Arial"/>
                          <a:cs typeface="Arial"/>
                        </a:rPr>
                        <a:t>Korrektur</a:t>
                      </a:r>
                    </a:p>
                  </a:txBody>
                  <a:tcPr marL="91440" marR="91440" marT="45720" marB="45720">
                    <a:solidFill>
                      <a:srgbClr val="EDF6F6"/>
                    </a:solidFill>
                  </a:tcPr>
                </a:tc>
              </a:tr>
              <a:tr h="666750">
                <a:tc>
                  <a:txBody>
                    <a:bodyPr/>
                    <a:lstStyle/>
                    <a:p>
                      <a:r>
                        <a:rPr sz="1800" b="0">
                          <a:solidFill>
                            <a:srgbClr val="152D3A"/>
                          </a:solidFill>
                          <a:latin typeface="Arial"/>
                          <a:ea typeface="Arial"/>
                          <a:cs typeface="Arial"/>
                        </a:rPr>
                        <a:t>Code-Suche traf Teilzeichenfolgen</a:t>
                      </a:r>
                    </a:p>
                  </a:txBody>
                  <a:tcPr marL="91440" marR="91440" marT="45720" marB="45720">
                    <a:solidFill>
                      <a:srgbClr val="FFFFFF"/>
                    </a:solidFill>
                  </a:tcPr>
                </a:tc>
                <a:tc>
                  <a:txBody>
                    <a:bodyPr/>
                    <a:lstStyle/>
                    <a:p>
                      <a:r>
                        <a:rPr sz="1800" b="0">
                          <a:solidFill>
                            <a:srgbClr val="152D3A"/>
                          </a:solidFill>
                          <a:latin typeface="Arial"/>
                          <a:ea typeface="Arial"/>
                          <a:cs typeface="Arial"/>
                        </a:rPr>
                        <a:t>Normalisierte, vollständige Fehlercodes</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Große Texte konnten abgeschnitten werden</a:t>
                      </a:r>
                    </a:p>
                  </a:txBody>
                  <a:tcPr marL="91440" marR="91440" marT="45720" marB="45720">
                    <a:solidFill>
                      <a:srgbClr val="FFFFFF"/>
                    </a:solidFill>
                  </a:tcPr>
                </a:tc>
                <a:tc>
                  <a:txBody>
                    <a:bodyPr/>
                    <a:lstStyle/>
                    <a:p>
                      <a:r>
                        <a:rPr sz="1800" b="0">
                          <a:solidFill>
                            <a:srgbClr val="152D3A"/>
                          </a:solidFill>
                          <a:latin typeface="Arial"/>
                          <a:ea typeface="Arial"/>
                          <a:cs typeface="Arial"/>
                        </a:rPr>
                        <a:t>Tokenbegrenzte Chunks mit passendem Tokenizer</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Mehrere Tabellen verloren ihre Kopfzeilen</a:t>
                      </a:r>
                    </a:p>
                  </a:txBody>
                  <a:tcPr marL="91440" marR="91440" marT="45720" marB="45720">
                    <a:solidFill>
                      <a:srgbClr val="FFFFFF"/>
                    </a:solidFill>
                  </a:tcPr>
                </a:tc>
                <a:tc>
                  <a:txBody>
                    <a:bodyPr/>
                    <a:lstStyle/>
                    <a:p>
                      <a:r>
                        <a:rPr sz="1800" b="0">
                          <a:solidFill>
                            <a:srgbClr val="152D3A"/>
                          </a:solidFill>
                          <a:latin typeface="Arial"/>
                          <a:ea typeface="Arial"/>
                          <a:cs typeface="Arial"/>
                        </a:rPr>
                        <a:t>Getrennte Tabellen und Fortsetzungszeilen</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Querverweise galten als Fundseiten</a:t>
                      </a:r>
                    </a:p>
                  </a:txBody>
                  <a:tcPr marL="91440" marR="91440" marT="45720" marB="45720">
                    <a:solidFill>
                      <a:srgbClr val="FFFFFF"/>
                    </a:solidFill>
                  </a:tcPr>
                </a:tc>
                <a:tc>
                  <a:txBody>
                    <a:bodyPr/>
                    <a:lstStyle/>
                    <a:p>
                      <a:r>
                        <a:rPr sz="1800" b="0">
                          <a:solidFill>
                            <a:srgbClr val="152D3A"/>
                          </a:solidFill>
                          <a:latin typeface="Arial"/>
                          <a:ea typeface="Arial"/>
                          <a:cs typeface="Arial"/>
                        </a:rPr>
                        <a:t>Echte Seitenmetadaten bzw. klare Kennzeichnung</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PageIndex bevorzugte frühe Abschnitte</a:t>
                      </a:r>
                    </a:p>
                  </a:txBody>
                  <a:tcPr marL="91440" marR="91440" marT="45720" marB="45720">
                    <a:solidFill>
                      <a:srgbClr val="FFFFFF"/>
                    </a:solidFill>
                  </a:tcPr>
                </a:tc>
                <a:tc>
                  <a:txBody>
                    <a:bodyPr/>
                    <a:lstStyle/>
                    <a:p>
                      <a:r>
                        <a:rPr sz="1800" b="0">
                          <a:solidFill>
                            <a:srgbClr val="152D3A"/>
                          </a:solidFill>
                          <a:latin typeface="Arial"/>
                          <a:ea typeface="Arial"/>
                          <a:cs typeface="Arial"/>
                        </a:rPr>
                        <a:t>Globale Auswahl über Batch-Kandidaten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3145180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D633297-DE7D-4D18-B80B-8E995F129284}"/>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Fehlerkorrekturen in API und Oberfläche</a:t>
            </a:r>
          </a:p>
        </p:txBody>
      </p:sp>
      <p:sp>
        <p:nvSpPr>
          <p:cNvPr id="2" name="">
            <a:extLst xmlns:a="http://schemas.openxmlformats.org/drawingml/2006/main">
              <a:ext uri="{FF2B5EF4-FFF2-40B4-BE49-F238E27FC236}">
                <a16:creationId xmlns:a16="http://schemas.microsoft.com/office/drawing/2014/main" id="{139A60AA-45CC-4EE1-8161-10118D333BC2}"/>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24</a:t>
            </a:r>
          </a:p>
        </p:txBody>
      </p:sp>
      <p:graphicFrame>
        <p:nvGraphicFramePr>
          <p:cNvPr id="6" name=""/>
          <p:cNvGraphicFramePr/>
          <p:nvPr/>
        </p:nvGraphicFramePr>
        <p:xfrm>
          <a:off xmlns:a="http://schemas.openxmlformats.org/drawingml/2006/main" x="609600" y="1619250"/>
          <a:ext xmlns:a="http://schemas.openxmlformats.org/drawingml/2006/main" cx="10972800" cy="4000500"/>
        </p:xfrm>
        <a:graphic xmlns:a="http://schemas.openxmlformats.org/drawingml/2006/main">
          <a:graphicData uri="http://schemas.openxmlformats.org/drawingml/2006/table">
            <a:tbl>
              <a:tblPr/>
              <a:tblGrid>
                <a:gridCol w="4648200"/>
                <a:gridCol w="6324600"/>
              </a:tblGrid>
              <a:tr h="666750">
                <a:tc>
                  <a:txBody>
                    <a:bodyPr/>
                    <a:lstStyle/>
                    <a:p>
                      <a:r>
                        <a:rPr sz="1800" b="1">
                          <a:solidFill>
                            <a:srgbClr val="152D3A"/>
                          </a:solidFill>
                          <a:latin typeface="Arial"/>
                          <a:ea typeface="Arial"/>
                          <a:cs typeface="Arial"/>
                        </a:rPr>
                        <a:t>Befund</a:t>
                      </a:r>
                    </a:p>
                  </a:txBody>
                  <a:tcPr marL="91440" marR="91440" marT="45720" marB="45720">
                    <a:solidFill>
                      <a:srgbClr val="EDF6F6"/>
                    </a:solidFill>
                  </a:tcPr>
                </a:tc>
                <a:tc>
                  <a:txBody>
                    <a:bodyPr/>
                    <a:lstStyle/>
                    <a:p>
                      <a:r>
                        <a:rPr sz="1800" b="1">
                          <a:solidFill>
                            <a:srgbClr val="152D3A"/>
                          </a:solidFill>
                          <a:latin typeface="Arial"/>
                          <a:ea typeface="Arial"/>
                          <a:cs typeface="Arial"/>
                        </a:rPr>
                        <a:t>Korrektur</a:t>
                      </a:r>
                    </a:p>
                  </a:txBody>
                  <a:tcPr marL="91440" marR="91440" marT="45720" marB="45720">
                    <a:solidFill>
                      <a:srgbClr val="EDF6F6"/>
                    </a:solidFill>
                  </a:tcPr>
                </a:tc>
              </a:tr>
              <a:tr h="666750">
                <a:tc>
                  <a:txBody>
                    <a:bodyPr/>
                    <a:lstStyle/>
                    <a:p>
                      <a:r>
                        <a:rPr sz="1800" b="0">
                          <a:solidFill>
                            <a:srgbClr val="152D3A"/>
                          </a:solidFill>
                          <a:latin typeface="Arial"/>
                          <a:ea typeface="Arial"/>
                          <a:cs typeface="Arial"/>
                        </a:rPr>
                        <a:t>Projektdateien über HTTP erreichbar</a:t>
                      </a:r>
                    </a:p>
                  </a:txBody>
                  <a:tcPr marL="91440" marR="91440" marT="45720" marB="45720">
                    <a:solidFill>
                      <a:srgbClr val="FFFFFF"/>
                    </a:solidFill>
                  </a:tcPr>
                </a:tc>
                <a:tc>
                  <a:txBody>
                    <a:bodyPr/>
                    <a:lstStyle/>
                    <a:p>
                      <a:r>
                        <a:rPr sz="1800" b="0">
                          <a:solidFill>
                            <a:srgbClr val="152D3A"/>
                          </a:solidFill>
                          <a:latin typeface="Arial"/>
                          <a:ea typeface="Arial"/>
                          <a:cs typeface="Arial"/>
                        </a:rPr>
                        <a:t>Statische Dateien ausdrücklich freigegeben</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Generierter Inhalt als HTML übernommen</a:t>
                      </a:r>
                    </a:p>
                  </a:txBody>
                  <a:tcPr marL="91440" marR="91440" marT="45720" marB="45720">
                    <a:solidFill>
                      <a:srgbClr val="FFFFFF"/>
                    </a:solidFill>
                  </a:tcPr>
                </a:tc>
                <a:tc>
                  <a:txBody>
                    <a:bodyPr/>
                    <a:lstStyle/>
                    <a:p>
                      <a:r>
                        <a:rPr sz="1800" b="0">
                          <a:solidFill>
                            <a:srgbClr val="152D3A"/>
                          </a:solidFill>
                          <a:latin typeface="Arial"/>
                          <a:ea typeface="Arial"/>
                          <a:cs typeface="Arial"/>
                        </a:rPr>
                        <a:t>HTML-Zeichen vor Formatierung maskiert</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Anfrage- und Streamfehler uneinheitlich</a:t>
                      </a:r>
                    </a:p>
                  </a:txBody>
                  <a:tcPr marL="91440" marR="91440" marT="45720" marB="45720">
                    <a:solidFill>
                      <a:srgbClr val="FFFFFF"/>
                    </a:solidFill>
                  </a:tcPr>
                </a:tc>
                <a:tc>
                  <a:txBody>
                    <a:bodyPr/>
                    <a:lstStyle/>
                    <a:p>
                      <a:r>
                        <a:rPr sz="1800" b="0">
                          <a:solidFill>
                            <a:srgbClr val="152D3A"/>
                          </a:solidFill>
                          <a:latin typeface="Arial"/>
                          <a:ea typeface="Arial"/>
                          <a:cs typeface="Arial"/>
                        </a:rPr>
                        <a:t>Validierung, Fehlerereignis und klare Statuscodes</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Modellwissen als Internetquelle dargestellt</a:t>
                      </a:r>
                    </a:p>
                  </a:txBody>
                  <a:tcPr marL="91440" marR="91440" marT="45720" marB="45720">
                    <a:solidFill>
                      <a:srgbClr val="FFFFFF"/>
                    </a:solidFill>
                  </a:tcPr>
                </a:tc>
                <a:tc>
                  <a:txBody>
                    <a:bodyPr/>
                    <a:lstStyle/>
                    <a:p>
                      <a:r>
                        <a:rPr sz="1800" b="0">
                          <a:solidFill>
                            <a:srgbClr val="152D3A"/>
                          </a:solidFill>
                          <a:latin typeface="Arial"/>
                          <a:ea typeface="Arial"/>
                          <a:cs typeface="Arial"/>
                        </a:rPr>
                        <a:t>Antworten ausschließlich aus Handbuchkontext</a:t>
                      </a:r>
                    </a:p>
                  </a:txBody>
                  <a:tcPr marL="91440" marR="91440" marT="45720" marB="45720">
                    <a:solidFill>
                      <a:srgbClr val="FFFFFF"/>
                    </a:solidFill>
                  </a:tcPr>
                </a:tc>
              </a:tr>
              <a:tr h="666750">
                <a:tc>
                  <a:txBody>
                    <a:bodyPr/>
                    <a:lstStyle/>
                    <a:p>
                      <a:r>
                        <a:rPr sz="1800" b="0">
                          <a:solidFill>
                            <a:srgbClr val="152D3A"/>
                          </a:solidFill>
                          <a:latin typeface="Arial"/>
                          <a:ea typeface="Arial"/>
                          <a:cs typeface="Arial"/>
                        </a:rPr>
                        <a:t>Fest eingebaute Vergleichszahlen</a:t>
                      </a:r>
                    </a:p>
                  </a:txBody>
                  <a:tcPr marL="91440" marR="91440" marT="45720" marB="45720">
                    <a:solidFill>
                      <a:srgbClr val="FFFFFF"/>
                    </a:solidFill>
                  </a:tcPr>
                </a:tc>
                <a:tc>
                  <a:txBody>
                    <a:bodyPr/>
                    <a:lstStyle/>
                    <a:p>
                      <a:r>
                        <a:rPr sz="1800" b="0">
                          <a:solidFill>
                            <a:srgbClr val="152D3A"/>
                          </a:solidFill>
                          <a:latin typeface="Arial"/>
                          <a:ea typeface="Arial"/>
                          <a:cs typeface="Arial"/>
                        </a:rPr>
                        <a:t>Keine Anzeige als aktuelle Messung</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7709999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20AFF8C-86F8-4811-9047-6381139369F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Frameworks und Abhängigkeiten</a:t>
            </a:r>
          </a:p>
        </p:txBody>
      </p:sp>
      <p:sp>
        <p:nvSpPr>
          <p:cNvPr id="2" name="">
            <a:extLst xmlns:a="http://schemas.openxmlformats.org/drawingml/2006/main">
              <a:ext uri="{FF2B5EF4-FFF2-40B4-BE49-F238E27FC236}">
                <a16:creationId xmlns:a16="http://schemas.microsoft.com/office/drawing/2014/main" id="{ED51CEC1-F466-4530-9FE3-7FCE36FCC409}"/>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25</a:t>
            </a:r>
          </a:p>
        </p:txBody>
      </p:sp>
      <p:graphicFrame>
        <p:nvGraphicFramePr>
          <p:cNvPr id="6" name=""/>
          <p:cNvGraphicFramePr/>
          <p:nvPr/>
        </p:nvGraphicFramePr>
        <p:xfrm>
          <a:off xmlns:a="http://schemas.openxmlformats.org/drawingml/2006/main" x="609600" y="1590675"/>
          <a:ext xmlns:a="http://schemas.openxmlformats.org/drawingml/2006/main" cx="10972800" cy="3857625"/>
        </p:xfrm>
        <a:graphic xmlns:a="http://schemas.openxmlformats.org/drawingml/2006/main">
          <a:graphicData uri="http://schemas.openxmlformats.org/drawingml/2006/table">
            <a:tbl>
              <a:tblPr/>
              <a:tblGrid>
                <a:gridCol w="2190750"/>
                <a:gridCol w="4552950"/>
                <a:gridCol w="4229100"/>
              </a:tblGrid>
              <a:tr h="642938">
                <a:tc>
                  <a:txBody>
                    <a:bodyPr/>
                    <a:lstStyle/>
                    <a:p>
                      <a:r>
                        <a:rPr sz="1800" b="1">
                          <a:solidFill>
                            <a:srgbClr val="152D3A"/>
                          </a:solidFill>
                          <a:latin typeface="Arial"/>
                          <a:ea typeface="Arial"/>
                          <a:cs typeface="Arial"/>
                        </a:rPr>
                        <a:t>Schicht</a:t>
                      </a:r>
                    </a:p>
                  </a:txBody>
                  <a:tcPr marL="91440" marR="91440" marT="45720" marB="45720">
                    <a:solidFill>
                      <a:srgbClr val="EDF6F6"/>
                    </a:solidFill>
                  </a:tcPr>
                </a:tc>
                <a:tc>
                  <a:txBody>
                    <a:bodyPr/>
                    <a:lstStyle/>
                    <a:p>
                      <a:r>
                        <a:rPr sz="1800" b="1">
                          <a:solidFill>
                            <a:srgbClr val="152D3A"/>
                          </a:solidFill>
                          <a:latin typeface="Arial"/>
                          <a:ea typeface="Arial"/>
                          <a:cs typeface="Arial"/>
                        </a:rPr>
                        <a:t>Bibliotheken</a:t>
                      </a:r>
                    </a:p>
                  </a:txBody>
                  <a:tcPr marL="91440" marR="91440" marT="45720" marB="45720">
                    <a:solidFill>
                      <a:srgbClr val="EDF6F6"/>
                    </a:solidFill>
                  </a:tcPr>
                </a:tc>
                <a:tc>
                  <a:txBody>
                    <a:bodyPr/>
                    <a:lstStyle/>
                    <a:p>
                      <a:r>
                        <a:rPr sz="1800" b="1">
                          <a:solidFill>
                            <a:srgbClr val="152D3A"/>
                          </a:solidFill>
                          <a:latin typeface="Arial"/>
                          <a:ea typeface="Arial"/>
                          <a:cs typeface="Arial"/>
                        </a:rPr>
                        <a:t>Aufgabe</a:t>
                      </a:r>
                    </a:p>
                  </a:txBody>
                  <a:tcPr marL="91440" marR="91440" marT="45720" marB="45720">
                    <a:solidFill>
                      <a:srgbClr val="EDF6F6"/>
                    </a:solidFill>
                  </a:tcPr>
                </a:tc>
              </a:tr>
              <a:tr h="642938">
                <a:tc>
                  <a:txBody>
                    <a:bodyPr/>
                    <a:lstStyle/>
                    <a:p>
                      <a:r>
                        <a:rPr sz="1800" b="0">
                          <a:solidFill>
                            <a:srgbClr val="152D3A"/>
                          </a:solidFill>
                          <a:latin typeface="Arial"/>
                          <a:ea typeface="Arial"/>
                          <a:cs typeface="Arial"/>
                        </a:rPr>
                        <a:t>Web</a:t>
                      </a:r>
                    </a:p>
                  </a:txBody>
                  <a:tcPr marL="91440" marR="91440" marT="45720" marB="45720">
                    <a:solidFill>
                      <a:srgbClr val="FFFFFF"/>
                    </a:solidFill>
                  </a:tcPr>
                </a:tc>
                <a:tc>
                  <a:txBody>
                    <a:bodyPr/>
                    <a:lstStyle/>
                    <a:p>
                      <a:r>
                        <a:rPr sz="1800" b="0">
                          <a:solidFill>
                            <a:srgbClr val="152D3A"/>
                          </a:solidFill>
                          <a:latin typeface="Arial"/>
                          <a:ea typeface="Arial"/>
                          <a:cs typeface="Arial"/>
                        </a:rPr>
                        <a:t>Flask</a:t>
                      </a:r>
                    </a:p>
                  </a:txBody>
                  <a:tcPr marL="91440" marR="91440" marT="45720" marB="45720">
                    <a:solidFill>
                      <a:srgbClr val="FFFFFF"/>
                    </a:solidFill>
                  </a:tcPr>
                </a:tc>
                <a:tc>
                  <a:txBody>
                    <a:bodyPr/>
                    <a:lstStyle/>
                    <a:p>
                      <a:r>
                        <a:rPr sz="1800" b="0">
                          <a:solidFill>
                            <a:srgbClr val="152D3A"/>
                          </a:solidFill>
                          <a:latin typeface="Arial"/>
                          <a:ea typeface="Arial"/>
                          <a:cs typeface="Arial"/>
                        </a:rPr>
                        <a:t>API, Startseite und SSE</a:t>
                      </a:r>
                    </a:p>
                  </a:txBody>
                  <a:tcPr marL="91440" marR="91440" marT="45720" marB="45720">
                    <a:solidFill>
                      <a:srgbClr val="FFFFFF"/>
                    </a:solidFill>
                  </a:tcPr>
                </a:tc>
              </a:tr>
              <a:tr h="642938">
                <a:tc>
                  <a:txBody>
                    <a:bodyPr/>
                    <a:lstStyle/>
                    <a:p>
                      <a:r>
                        <a:rPr sz="1800" b="0">
                          <a:solidFill>
                            <a:srgbClr val="152D3A"/>
                          </a:solidFill>
                          <a:latin typeface="Arial"/>
                          <a:ea typeface="Arial"/>
                          <a:cs typeface="Arial"/>
                        </a:rPr>
                        <a:t>RAG</a:t>
                      </a:r>
                    </a:p>
                  </a:txBody>
                  <a:tcPr marL="91440" marR="91440" marT="45720" marB="45720">
                    <a:solidFill>
                      <a:srgbClr val="FFFFFF"/>
                    </a:solidFill>
                  </a:tcPr>
                </a:tc>
                <a:tc>
                  <a:txBody>
                    <a:bodyPr/>
                    <a:lstStyle/>
                    <a:p>
                      <a:r>
                        <a:rPr sz="1800" b="0">
                          <a:solidFill>
                            <a:srgbClr val="152D3A"/>
                          </a:solidFill>
                          <a:latin typeface="Arial"/>
                          <a:ea typeface="Arial"/>
                          <a:cs typeface="Arial"/>
                        </a:rPr>
                        <a:t>LlamaIndex Core + HF-Integration</a:t>
                      </a:r>
                    </a:p>
                  </a:txBody>
                  <a:tcPr marL="91440" marR="91440" marT="45720" marB="45720">
                    <a:solidFill>
                      <a:srgbClr val="FFFFFF"/>
                    </a:solidFill>
                  </a:tcPr>
                </a:tc>
                <a:tc>
                  <a:txBody>
                    <a:bodyPr/>
                    <a:lstStyle/>
                    <a:p>
                      <a:r>
                        <a:rPr sz="1800" b="0">
                          <a:solidFill>
                            <a:srgbClr val="152D3A"/>
                          </a:solidFill>
                          <a:latin typeface="Arial"/>
                          <a:ea typeface="Arial"/>
                          <a:cs typeface="Arial"/>
                        </a:rPr>
                        <a:t>Nodes, Vektorsuche und Persistenz</a:t>
                      </a:r>
                    </a:p>
                  </a:txBody>
                  <a:tcPr marL="91440" marR="91440" marT="45720" marB="45720">
                    <a:solidFill>
                      <a:srgbClr val="FFFFFF"/>
                    </a:solidFill>
                  </a:tcPr>
                </a:tc>
              </a:tr>
              <a:tr h="642938">
                <a:tc>
                  <a:txBody>
                    <a:bodyPr/>
                    <a:lstStyle/>
                    <a:p>
                      <a:r>
                        <a:rPr sz="1800" b="0">
                          <a:solidFill>
                            <a:srgbClr val="152D3A"/>
                          </a:solidFill>
                          <a:latin typeface="Arial"/>
                          <a:ea typeface="Arial"/>
                          <a:cs typeface="Arial"/>
                        </a:rPr>
                        <a:t>Modelle</a:t>
                      </a:r>
                    </a:p>
                  </a:txBody>
                  <a:tcPr marL="91440" marR="91440" marT="45720" marB="45720">
                    <a:solidFill>
                      <a:srgbClr val="FFFFFF"/>
                    </a:solidFill>
                  </a:tcPr>
                </a:tc>
                <a:tc>
                  <a:txBody>
                    <a:bodyPr/>
                    <a:lstStyle/>
                    <a:p>
                      <a:r>
                        <a:rPr sz="1800" b="0">
                          <a:solidFill>
                            <a:srgbClr val="152D3A"/>
                          </a:solidFill>
                          <a:latin typeface="Arial"/>
                          <a:ea typeface="Arial"/>
                          <a:cs typeface="Arial"/>
                        </a:rPr>
                        <a:t>Sentence Transformers + PyTorch</a:t>
                      </a:r>
                    </a:p>
                  </a:txBody>
                  <a:tcPr marL="91440" marR="91440" marT="45720" marB="45720">
                    <a:solidFill>
                      <a:srgbClr val="FFFFFF"/>
                    </a:solidFill>
                  </a:tcPr>
                </a:tc>
                <a:tc>
                  <a:txBody>
                    <a:bodyPr/>
                    <a:lstStyle/>
                    <a:p>
                      <a:r>
                        <a:rPr sz="1800" b="0">
                          <a:solidFill>
                            <a:srgbClr val="152D3A"/>
                          </a:solidFill>
                          <a:latin typeface="Arial"/>
                          <a:ea typeface="Arial"/>
                          <a:cs typeface="Arial"/>
                        </a:rPr>
                        <a:t>Embeddings und Cross-Encoder</a:t>
                      </a:r>
                    </a:p>
                  </a:txBody>
                  <a:tcPr marL="91440" marR="91440" marT="45720" marB="45720">
                    <a:solidFill>
                      <a:srgbClr val="FFFFFF"/>
                    </a:solidFill>
                  </a:tcPr>
                </a:tc>
              </a:tr>
              <a:tr h="642938">
                <a:tc>
                  <a:txBody>
                    <a:bodyPr/>
                    <a:lstStyle/>
                    <a:p>
                      <a:r>
                        <a:rPr sz="1800" b="0">
                          <a:solidFill>
                            <a:srgbClr val="152D3A"/>
                          </a:solidFill>
                          <a:latin typeface="Arial"/>
                          <a:ea typeface="Arial"/>
                          <a:cs typeface="Arial"/>
                        </a:rPr>
                        <a:t>LLM-Client</a:t>
                      </a:r>
                    </a:p>
                  </a:txBody>
                  <a:tcPr marL="91440" marR="91440" marT="45720" marB="45720">
                    <a:solidFill>
                      <a:srgbClr val="FFFFFF"/>
                    </a:solidFill>
                  </a:tcPr>
                </a:tc>
                <a:tc>
                  <a:txBody>
                    <a:bodyPr/>
                    <a:lstStyle/>
                    <a:p>
                      <a:r>
                        <a:rPr sz="1800" b="0">
                          <a:solidFill>
                            <a:srgbClr val="152D3A"/>
                          </a:solidFill>
                          <a:latin typeface="Arial"/>
                          <a:ea typeface="Arial"/>
                          <a:cs typeface="Arial"/>
                        </a:rPr>
                        <a:t>OpenAI Python SDK</a:t>
                      </a:r>
                    </a:p>
                  </a:txBody>
                  <a:tcPr marL="91440" marR="91440" marT="45720" marB="45720">
                    <a:solidFill>
                      <a:srgbClr val="FFFFFF"/>
                    </a:solidFill>
                  </a:tcPr>
                </a:tc>
                <a:tc>
                  <a:txBody>
                    <a:bodyPr/>
                    <a:lstStyle/>
                    <a:p>
                      <a:r>
                        <a:rPr sz="1800" b="0">
                          <a:solidFill>
                            <a:srgbClr val="152D3A"/>
                          </a:solidFill>
                          <a:latin typeface="Arial"/>
                          <a:ea typeface="Arial"/>
                          <a:cs typeface="Arial"/>
                        </a:rPr>
                        <a:t>OpenAI API und LM-Studio-Kompatibilität</a:t>
                      </a:r>
                    </a:p>
                  </a:txBody>
                  <a:tcPr marL="91440" marR="91440" marT="45720" marB="45720">
                    <a:solidFill>
                      <a:srgbClr val="FFFFFF"/>
                    </a:solidFill>
                  </a:tcPr>
                </a:tc>
              </a:tr>
              <a:tr h="642938">
                <a:tc>
                  <a:txBody>
                    <a:bodyPr/>
                    <a:lstStyle/>
                    <a:p>
                      <a:r>
                        <a:rPr sz="1800" b="0">
                          <a:solidFill>
                            <a:srgbClr val="152D3A"/>
                          </a:solidFill>
                          <a:latin typeface="Arial"/>
                          <a:ea typeface="Arial"/>
                          <a:cs typeface="Arial"/>
                        </a:rPr>
                        <a:t>Optional</a:t>
                      </a:r>
                    </a:p>
                  </a:txBody>
                  <a:tcPr marL="91440" marR="91440" marT="45720" marB="45720">
                    <a:solidFill>
                      <a:srgbClr val="FFFFFF"/>
                    </a:solidFill>
                  </a:tcPr>
                </a:tc>
                <a:tc>
                  <a:txBody>
                    <a:bodyPr/>
                    <a:lstStyle/>
                    <a:p>
                      <a:r>
                        <a:rPr sz="1800" b="0">
                          <a:solidFill>
                            <a:srgbClr val="152D3A"/>
                          </a:solidFill>
                          <a:latin typeface="Arial"/>
                          <a:ea typeface="Arial"/>
                          <a:cs typeface="Arial"/>
                        </a:rPr>
                        <a:t>Docling, LiteLLM, PyMuPDF, pypdf</a:t>
                      </a:r>
                    </a:p>
                  </a:txBody>
                  <a:tcPr marL="91440" marR="91440" marT="45720" marB="45720">
                    <a:solidFill>
                      <a:srgbClr val="FFFFFF"/>
                    </a:solidFill>
                  </a:tcPr>
                </a:tc>
                <a:tc>
                  <a:txBody>
                    <a:bodyPr/>
                    <a:lstStyle/>
                    <a:p>
                      <a:r>
                        <a:rPr sz="1800" b="0">
                          <a:solidFill>
                            <a:srgbClr val="152D3A"/>
                          </a:solidFill>
                          <a:latin typeface="Arial"/>
                          <a:ea typeface="Arial"/>
                          <a:cs typeface="Arial"/>
                        </a:rPr>
                        <a:t>PDF-Extraktion und PageIndex-Bau</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9089036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5BE261-7353-4575-B2BB-A044F09BD901}"/>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Teststrategie: mehrere Ebenen</a:t>
            </a:r>
          </a:p>
        </p:txBody>
      </p:sp>
      <p:sp>
        <p:nvSpPr>
          <p:cNvPr id="2" name="">
            <a:extLst xmlns:a="http://schemas.openxmlformats.org/drawingml/2006/main">
              <a:ext uri="{FF2B5EF4-FFF2-40B4-BE49-F238E27FC236}">
                <a16:creationId xmlns:a16="http://schemas.microsoft.com/office/drawing/2014/main" id="{90A6A488-B553-4CEC-AC93-A5DCBDBBA87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26</a:t>
            </a:r>
          </a:p>
        </p:txBody>
      </p:sp>
      <p:sp>
        <p:nvSpPr>
          <p:cNvPr id="3" name="">
            <a:extLst xmlns:a="http://schemas.openxmlformats.org/drawingml/2006/main">
              <a:ext uri="{FF2B5EF4-FFF2-40B4-BE49-F238E27FC236}">
                <a16:creationId xmlns:a16="http://schemas.microsoft.com/office/drawing/2014/main" id="{219A05D5-AADF-4EB0-BC35-E53DB484CEB9}"/>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Logiktests</a:t>
            </a:r>
          </a:p>
        </p:txBody>
      </p:sp>
      <p:sp>
        <p:nvSpPr>
          <p:cNvPr id="4" name="">
            <a:extLst xmlns:a="http://schemas.openxmlformats.org/drawingml/2006/main">
              <a:ext uri="{FF2B5EF4-FFF2-40B4-BE49-F238E27FC236}">
                <a16:creationId xmlns:a16="http://schemas.microsoft.com/office/drawing/2014/main" id="{73E85DDF-D425-4397-A634-B88E4AEFF552}"/>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Fehlercodes, Cache-Key, Quellen, Tabellen und PageIndex-Auswahl.</a:t>
            </a:r>
          </a:p>
        </p:txBody>
      </p:sp>
      <p:sp>
        <p:nvSpPr>
          <p:cNvPr id="5" name="">
            <a:extLst xmlns:a="http://schemas.openxmlformats.org/drawingml/2006/main">
              <a:ext uri="{FF2B5EF4-FFF2-40B4-BE49-F238E27FC236}">
                <a16:creationId xmlns:a16="http://schemas.microsoft.com/office/drawing/2014/main" id="{122528BD-2DDE-4A4C-8406-F5CB7FEF2ADA}"/>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API-Tests</a:t>
            </a:r>
          </a:p>
        </p:txBody>
      </p:sp>
      <p:sp>
        <p:nvSpPr>
          <p:cNvPr id="6" name="">
            <a:extLst xmlns:a="http://schemas.openxmlformats.org/drawingml/2006/main">
              <a:ext uri="{FF2B5EF4-FFF2-40B4-BE49-F238E27FC236}">
                <a16:creationId xmlns:a16="http://schemas.microsoft.com/office/drawing/2014/main" id="{7B50FA9C-7702-4FD5-BA13-5014839858CA}"/>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JSON, SSE, ungültige Eingaben, Fehlerfälle und Dateifreigaben.</a:t>
            </a:r>
          </a:p>
        </p:txBody>
      </p:sp>
      <p:sp>
        <p:nvSpPr>
          <p:cNvPr id="7" name="">
            <a:extLst xmlns:a="http://schemas.openxmlformats.org/drawingml/2006/main">
              <a:ext uri="{FF2B5EF4-FFF2-40B4-BE49-F238E27FC236}">
                <a16:creationId xmlns:a16="http://schemas.microsoft.com/office/drawing/2014/main" id="{DA452FCE-8D73-4D74-BBF9-8B756C60D8EB}"/>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Retrieval</a:t>
            </a:r>
          </a:p>
        </p:txBody>
      </p:sp>
      <p:sp>
        <p:nvSpPr>
          <p:cNvPr id="8" name="">
            <a:extLst xmlns:a="http://schemas.openxmlformats.org/drawingml/2006/main">
              <a:ext uri="{FF2B5EF4-FFF2-40B4-BE49-F238E27FC236}">
                <a16:creationId xmlns:a16="http://schemas.microsoft.com/office/drawing/2014/main" id="{31913479-9656-4F3D-AB80-BE0A7D5F02B1}"/>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Zehn Störungsfragen mit Stichworten aus der Anleitung.</a:t>
            </a:r>
          </a:p>
        </p:txBody>
      </p:sp>
      <p:sp>
        <p:nvSpPr>
          <p:cNvPr id="9" name="">
            <a:extLst xmlns:a="http://schemas.openxmlformats.org/drawingml/2006/main">
              <a:ext uri="{FF2B5EF4-FFF2-40B4-BE49-F238E27FC236}">
                <a16:creationId xmlns:a16="http://schemas.microsoft.com/office/drawing/2014/main" id="{CD53A22E-C87D-4647-8F6C-9F12D79AE19A}"/>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Antwortqualität</a:t>
            </a:r>
          </a:p>
        </p:txBody>
      </p:sp>
      <p:sp>
        <p:nvSpPr>
          <p:cNvPr id="10" name="">
            <a:extLst xmlns:a="http://schemas.openxmlformats.org/drawingml/2006/main">
              <a:ext uri="{FF2B5EF4-FFF2-40B4-BE49-F238E27FC236}">
                <a16:creationId xmlns:a16="http://schemas.microsoft.com/office/drawing/2014/main" id="{E21047D7-5145-470D-8099-BBF0A80D0C7E}"/>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Belegtreue, vollständige Warnhinweise und sinnvolle Ablehnung.</a:t>
            </a:r>
          </a:p>
        </p:txBody>
      </p:sp>
    </p:spTree>
    <p:extLst>
      <p:ext uri="{BB962C8B-B14F-4D97-AF65-F5344CB8AC3E}">
        <p14:creationId xmlns:p14="http://schemas.microsoft.com/office/powerpoint/2010/main" val="39342831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CF52FB-544D-41D4-90F5-DF690E1C700A}"/>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Ergebnisse und Grenzen der Prüfung</a:t>
            </a:r>
          </a:p>
        </p:txBody>
      </p:sp>
      <p:sp>
        <p:nvSpPr>
          <p:cNvPr id="2" name="">
            <a:extLst xmlns:a="http://schemas.openxmlformats.org/drawingml/2006/main">
              <a:ext uri="{FF2B5EF4-FFF2-40B4-BE49-F238E27FC236}">
                <a16:creationId xmlns:a16="http://schemas.microsoft.com/office/drawing/2014/main" id="{DB7A11E4-0E42-49E5-9398-477D9034F723}"/>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27</a:t>
            </a:r>
          </a:p>
        </p:txBody>
      </p:sp>
      <p:sp>
        <p:nvSpPr>
          <p:cNvPr id="3" name="">
            <a:extLst xmlns:a="http://schemas.openxmlformats.org/drawingml/2006/main">
              <a:ext uri="{FF2B5EF4-FFF2-40B4-BE49-F238E27FC236}">
                <a16:creationId xmlns:a16="http://schemas.microsoft.com/office/drawing/2014/main" id="{47C00747-EEE6-46E6-A88C-C2FEE1C6CC00}"/>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Regressionen</a:t>
            </a:r>
          </a:p>
        </p:txBody>
      </p:sp>
      <p:sp>
        <p:nvSpPr>
          <p:cNvPr id="4" name="">
            <a:extLst xmlns:a="http://schemas.openxmlformats.org/drawingml/2006/main">
              <a:ext uri="{FF2B5EF4-FFF2-40B4-BE49-F238E27FC236}">
                <a16:creationId xmlns:a16="http://schemas.microsoft.com/office/drawing/2014/main" id="{D749A41F-2508-4D9C-924A-C9BB3F43CAFD}"/>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70 Tests erfolgreich. Anbieterwechsel, Schlüsselverwaltung und API-Vertrag eingeschlossen.</a:t>
            </a:r>
          </a:p>
        </p:txBody>
      </p:sp>
      <p:sp>
        <p:nvSpPr>
          <p:cNvPr id="5" name="">
            <a:extLst xmlns:a="http://schemas.openxmlformats.org/drawingml/2006/main">
              <a:ext uri="{FF2B5EF4-FFF2-40B4-BE49-F238E27FC236}">
                <a16:creationId xmlns:a16="http://schemas.microsoft.com/office/drawing/2014/main" id="{7844F9C2-31A8-468C-99DC-5572EDB4C410}"/>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Gegenbeispiele</a:t>
            </a:r>
          </a:p>
        </p:txBody>
      </p:sp>
      <p:sp>
        <p:nvSpPr>
          <p:cNvPr id="6" name="">
            <a:extLst xmlns:a="http://schemas.openxmlformats.org/drawingml/2006/main">
              <a:ext uri="{FF2B5EF4-FFF2-40B4-BE49-F238E27FC236}">
                <a16:creationId xmlns:a16="http://schemas.microsoft.com/office/drawing/2014/main" id="{016C0CED-86EC-4646-91D7-F3A62D3928BF}"/>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Vier ungeeignete Fragen abgelehnt: Fremdthemen, E:180 und eine fremde Geräteart.</a:t>
            </a:r>
          </a:p>
        </p:txBody>
      </p:sp>
      <p:sp>
        <p:nvSpPr>
          <p:cNvPr id="7" name="">
            <a:extLst xmlns:a="http://schemas.openxmlformats.org/drawingml/2006/main">
              <a:ext uri="{FF2B5EF4-FFF2-40B4-BE49-F238E27FC236}">
                <a16:creationId xmlns:a16="http://schemas.microsoft.com/office/drawing/2014/main" id="{C6BC91AF-31C0-437C-BBDB-63D5A569FCE6}"/>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Retrieval-Messung</a:t>
            </a:r>
          </a:p>
        </p:txBody>
      </p:sp>
      <p:sp>
        <p:nvSpPr>
          <p:cNvPr id="8" name="">
            <a:extLst xmlns:a="http://schemas.openxmlformats.org/drawingml/2006/main">
              <a:ext uri="{FF2B5EF4-FFF2-40B4-BE49-F238E27FC236}">
                <a16:creationId xmlns:a16="http://schemas.microsoft.com/office/drawing/2014/main" id="{49F632F6-BC3A-417B-A799-2560DC005F16}"/>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Hybrid mit Reranking: 100 % Keyword-Treffer bei zehn Fragen.</a:t>
            </a:r>
          </a:p>
        </p:txBody>
      </p:sp>
      <p:sp>
        <p:nvSpPr>
          <p:cNvPr id="9" name="">
            <a:extLst xmlns:a="http://schemas.openxmlformats.org/drawingml/2006/main">
              <a:ext uri="{FF2B5EF4-FFF2-40B4-BE49-F238E27FC236}">
                <a16:creationId xmlns:a16="http://schemas.microsoft.com/office/drawing/2014/main" id="{9DCD76AC-6F50-48C0-87CB-C542F077E874}"/>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Mac-Verbindung</a:t>
            </a:r>
          </a:p>
        </p:txBody>
      </p:sp>
      <p:sp>
        <p:nvSpPr>
          <p:cNvPr id="10" name="">
            <a:extLst xmlns:a="http://schemas.openxmlformats.org/drawingml/2006/main">
              <a:ext uri="{FF2B5EF4-FFF2-40B4-BE49-F238E27FC236}">
                <a16:creationId xmlns:a16="http://schemas.microsoft.com/office/drawing/2014/main" id="{33E9B70D-8F0E-4B8B-BA76-0BEC2942F047}"/>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LM Studio auf dem Mac war aus dieser Windows-Prüfumgebung nicht erreichbar.</a:t>
            </a:r>
          </a:p>
        </p:txBody>
      </p:sp>
    </p:spTree>
    <p:extLst>
      <p:ext uri="{BB962C8B-B14F-4D97-AF65-F5344CB8AC3E}">
        <p14:creationId xmlns:p14="http://schemas.microsoft.com/office/powerpoint/2010/main" val="164593094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D68BC8-1CD1-4D47-934E-532156FBBA06}"/>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Retrieval-Messung am realen Handbuch</a:t>
            </a:r>
          </a:p>
        </p:txBody>
      </p:sp>
      <p:sp>
        <p:nvSpPr>
          <p:cNvPr id="2" name="">
            <a:extLst xmlns:a="http://schemas.openxmlformats.org/drawingml/2006/main">
              <a:ext uri="{FF2B5EF4-FFF2-40B4-BE49-F238E27FC236}">
                <a16:creationId xmlns:a16="http://schemas.microsoft.com/office/drawing/2014/main" id="{E7084EF3-5CE9-43F0-97B1-54B7BA4EBBD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28</a:t>
            </a:r>
          </a:p>
        </p:txBody>
      </p:sp>
      <p:graphicFrame>
        <p:nvGraphicFramePr>
          <p:cNvPr id="7" name=""/>
          <p:cNvGraphicFramePr/>
          <p:nvPr/>
        </p:nvGraphicFramePr>
        <p:xfrm>
          <a:off xmlns:a="http://schemas.openxmlformats.org/drawingml/2006/main" x="609600" y="1905000"/>
          <a:ext xmlns:a="http://schemas.openxmlformats.org/drawingml/2006/main" cx="10972800" cy="2952750"/>
        </p:xfrm>
        <a:graphic xmlns:a="http://schemas.openxmlformats.org/drawingml/2006/main">
          <a:graphicData uri="http://schemas.openxmlformats.org/drawingml/2006/table">
            <a:tbl>
              <a:tblPr/>
              <a:tblGrid>
                <a:gridCol w="3714750"/>
                <a:gridCol w="1428750"/>
                <a:gridCol w="1428750"/>
                <a:gridCol w="1619250"/>
                <a:gridCol w="2781300"/>
              </a:tblGrid>
              <a:tr h="738188">
                <a:tc>
                  <a:txBody>
                    <a:bodyPr/>
                    <a:lstStyle/>
                    <a:p>
                      <a:r>
                        <a:rPr sz="1950" b="1">
                          <a:solidFill>
                            <a:srgbClr val="152D3A"/>
                          </a:solidFill>
                          <a:latin typeface="Arial"/>
                          <a:ea typeface="Arial"/>
                          <a:cs typeface="Arial"/>
                        </a:rPr>
                        <a:t>Variante</a:t>
                      </a:r>
                    </a:p>
                  </a:txBody>
                  <a:tcPr marL="91440" marR="91440" marT="45720" marB="45720">
                    <a:solidFill>
                      <a:srgbClr val="EDF6F6"/>
                    </a:solidFill>
                  </a:tcPr>
                </a:tc>
                <a:tc>
                  <a:txBody>
                    <a:bodyPr/>
                    <a:lstStyle/>
                    <a:p>
                      <a:r>
                        <a:rPr sz="1950" b="1">
                          <a:solidFill>
                            <a:srgbClr val="152D3A"/>
                          </a:solidFill>
                          <a:latin typeface="Arial"/>
                          <a:ea typeface="Arial"/>
                          <a:cs typeface="Arial"/>
                        </a:rPr>
                        <a:t>Hit@5</a:t>
                      </a:r>
                    </a:p>
                  </a:txBody>
                  <a:tcPr marL="91440" marR="91440" marT="45720" marB="45720">
                    <a:solidFill>
                      <a:srgbClr val="EDF6F6"/>
                    </a:solidFill>
                  </a:tcPr>
                </a:tc>
                <a:tc>
                  <a:txBody>
                    <a:bodyPr/>
                    <a:lstStyle/>
                    <a:p>
                      <a:r>
                        <a:rPr sz="1950" b="1">
                          <a:solidFill>
                            <a:srgbClr val="152D3A"/>
                          </a:solidFill>
                          <a:latin typeface="Arial"/>
                          <a:ea typeface="Arial"/>
                          <a:cs typeface="Arial"/>
                        </a:rPr>
                        <a:t>Hit@1</a:t>
                      </a:r>
                    </a:p>
                  </a:txBody>
                  <a:tcPr marL="91440" marR="91440" marT="45720" marB="45720">
                    <a:solidFill>
                      <a:srgbClr val="EDF6F6"/>
                    </a:solidFill>
                  </a:tcPr>
                </a:tc>
                <a:tc>
                  <a:txBody>
                    <a:bodyPr/>
                    <a:lstStyle/>
                    <a:p>
                      <a:r>
                        <a:rPr sz="1950" b="1">
                          <a:solidFill>
                            <a:srgbClr val="152D3A"/>
                          </a:solidFill>
                          <a:latin typeface="Arial"/>
                          <a:ea typeface="Arial"/>
                          <a:cs typeface="Arial"/>
                        </a:rPr>
                        <a:t>MRR</a:t>
                      </a:r>
                    </a:p>
                  </a:txBody>
                  <a:tcPr marL="91440" marR="91440" marT="45720" marB="45720">
                    <a:solidFill>
                      <a:srgbClr val="EDF6F6"/>
                    </a:solidFill>
                  </a:tcPr>
                </a:tc>
                <a:tc>
                  <a:txBody>
                    <a:bodyPr/>
                    <a:lstStyle/>
                    <a:p>
                      <a:r>
                        <a:rPr sz="1950" b="1">
                          <a:solidFill>
                            <a:srgbClr val="152D3A"/>
                          </a:solidFill>
                          <a:latin typeface="Arial"/>
                          <a:ea typeface="Arial"/>
                          <a:cs typeface="Arial"/>
                        </a:rPr>
                        <a:t>Abdeckung</a:t>
                      </a:r>
                    </a:p>
                  </a:txBody>
                  <a:tcPr marL="91440" marR="91440" marT="45720" marB="45720">
                    <a:solidFill>
                      <a:srgbClr val="EDF6F6"/>
                    </a:solidFill>
                  </a:tcPr>
                </a:tc>
              </a:tr>
              <a:tr h="738188">
                <a:tc>
                  <a:txBody>
                    <a:bodyPr/>
                    <a:lstStyle/>
                    <a:p>
                      <a:r>
                        <a:rPr sz="1950" b="0">
                          <a:solidFill>
                            <a:srgbClr val="152D3A"/>
                          </a:solidFill>
                          <a:latin typeface="Arial"/>
                          <a:ea typeface="Arial"/>
                          <a:cs typeface="Arial"/>
                        </a:rPr>
                        <a:t>Vektor allein</a:t>
                      </a:r>
                    </a:p>
                  </a:txBody>
                  <a:tcPr marL="91440" marR="91440" marT="45720" marB="45720">
                    <a:solidFill>
                      <a:srgbClr val="FFFFFF"/>
                    </a:solidFill>
                  </a:tcPr>
                </a:tc>
                <a:tc>
                  <a:txBody>
                    <a:bodyPr/>
                    <a:lstStyle/>
                    <a:p>
                      <a:r>
                        <a:rPr sz="1950" b="0">
                          <a:solidFill>
                            <a:srgbClr val="152D3A"/>
                          </a:solidFill>
                          <a:latin typeface="Arial"/>
                          <a:ea typeface="Arial"/>
                          <a:cs typeface="Arial"/>
                        </a:rPr>
                        <a:t>90 %</a:t>
                      </a:r>
                    </a:p>
                  </a:txBody>
                  <a:tcPr marL="91440" marR="91440" marT="45720" marB="45720">
                    <a:solidFill>
                      <a:srgbClr val="FFFFFF"/>
                    </a:solidFill>
                  </a:tcPr>
                </a:tc>
                <a:tc>
                  <a:txBody>
                    <a:bodyPr/>
                    <a:lstStyle/>
                    <a:p>
                      <a:r>
                        <a:rPr sz="1950" b="0">
                          <a:solidFill>
                            <a:srgbClr val="152D3A"/>
                          </a:solidFill>
                          <a:latin typeface="Arial"/>
                          <a:ea typeface="Arial"/>
                          <a:cs typeface="Arial"/>
                        </a:rPr>
                        <a:t>60 %</a:t>
                      </a:r>
                    </a:p>
                  </a:txBody>
                  <a:tcPr marL="91440" marR="91440" marT="45720" marB="45720">
                    <a:solidFill>
                      <a:srgbClr val="FFFFFF"/>
                    </a:solidFill>
                  </a:tcPr>
                </a:tc>
                <a:tc>
                  <a:txBody>
                    <a:bodyPr/>
                    <a:lstStyle/>
                    <a:p>
                      <a:r>
                        <a:rPr sz="1950" b="0">
                          <a:solidFill>
                            <a:srgbClr val="152D3A"/>
                          </a:solidFill>
                          <a:latin typeface="Arial"/>
                          <a:ea typeface="Arial"/>
                          <a:cs typeface="Arial"/>
                        </a:rPr>
                        <a:t>0,725</a:t>
                      </a:r>
                    </a:p>
                  </a:txBody>
                  <a:tcPr marL="91440" marR="91440" marT="45720" marB="45720">
                    <a:solidFill>
                      <a:srgbClr val="FFFFFF"/>
                    </a:solidFill>
                  </a:tcPr>
                </a:tc>
                <a:tc>
                  <a:txBody>
                    <a:bodyPr/>
                    <a:lstStyle/>
                    <a:p>
                      <a:r>
                        <a:rPr sz="1950" b="0">
                          <a:solidFill>
                            <a:srgbClr val="152D3A"/>
                          </a:solidFill>
                          <a:latin typeface="Arial"/>
                          <a:ea typeface="Arial"/>
                          <a:cs typeface="Arial"/>
                        </a:rPr>
                        <a:t>73,5 %</a:t>
                      </a:r>
                    </a:p>
                  </a:txBody>
                  <a:tcPr marL="91440" marR="91440" marT="45720" marB="45720">
                    <a:solidFill>
                      <a:srgbClr val="FFFFFF"/>
                    </a:solidFill>
                  </a:tcPr>
                </a:tc>
              </a:tr>
              <a:tr h="738188">
                <a:tc>
                  <a:txBody>
                    <a:bodyPr/>
                    <a:lstStyle/>
                    <a:p>
                      <a:r>
                        <a:rPr sz="1950" b="0">
                          <a:solidFill>
                            <a:srgbClr val="152D3A"/>
                          </a:solidFill>
                          <a:latin typeface="Arial"/>
                          <a:ea typeface="Arial"/>
                          <a:cs typeface="Arial"/>
                        </a:rPr>
                        <a:t>Hybrid ohne Reranker</a:t>
                      </a:r>
                    </a:p>
                  </a:txBody>
                  <a:tcPr marL="91440" marR="91440" marT="45720" marB="45720">
                    <a:solidFill>
                      <a:srgbClr val="FFFFFF"/>
                    </a:solidFill>
                  </a:tcPr>
                </a:tc>
                <a:tc>
                  <a:txBody>
                    <a:bodyPr/>
                    <a:lstStyle/>
                    <a:p>
                      <a:r>
                        <a:rPr sz="1950" b="0">
                          <a:solidFill>
                            <a:srgbClr val="152D3A"/>
                          </a:solidFill>
                          <a:latin typeface="Arial"/>
                          <a:ea typeface="Arial"/>
                          <a:cs typeface="Arial"/>
                        </a:rPr>
                        <a:t>100 %</a:t>
                      </a:r>
                    </a:p>
                  </a:txBody>
                  <a:tcPr marL="91440" marR="91440" marT="45720" marB="45720">
                    <a:solidFill>
                      <a:srgbClr val="FFFFFF"/>
                    </a:solidFill>
                  </a:tcPr>
                </a:tc>
                <a:tc>
                  <a:txBody>
                    <a:bodyPr/>
                    <a:lstStyle/>
                    <a:p>
                      <a:r>
                        <a:rPr sz="1950" b="0">
                          <a:solidFill>
                            <a:srgbClr val="152D3A"/>
                          </a:solidFill>
                          <a:latin typeface="Arial"/>
                          <a:ea typeface="Arial"/>
                          <a:cs typeface="Arial"/>
                        </a:rPr>
                        <a:t>70 %</a:t>
                      </a:r>
                    </a:p>
                  </a:txBody>
                  <a:tcPr marL="91440" marR="91440" marT="45720" marB="45720">
                    <a:solidFill>
                      <a:srgbClr val="FFFFFF"/>
                    </a:solidFill>
                  </a:tcPr>
                </a:tc>
                <a:tc>
                  <a:txBody>
                    <a:bodyPr/>
                    <a:lstStyle/>
                    <a:p>
                      <a:r>
                        <a:rPr sz="1950" b="0">
                          <a:solidFill>
                            <a:srgbClr val="152D3A"/>
                          </a:solidFill>
                          <a:latin typeface="Arial"/>
                          <a:ea typeface="Arial"/>
                          <a:cs typeface="Arial"/>
                        </a:rPr>
                        <a:t>0,825</a:t>
                      </a:r>
                    </a:p>
                  </a:txBody>
                  <a:tcPr marL="91440" marR="91440" marT="45720" marB="45720">
                    <a:solidFill>
                      <a:srgbClr val="FFFFFF"/>
                    </a:solidFill>
                  </a:tcPr>
                </a:tc>
                <a:tc>
                  <a:txBody>
                    <a:bodyPr/>
                    <a:lstStyle/>
                    <a:p>
                      <a:r>
                        <a:rPr sz="1950" b="0">
                          <a:solidFill>
                            <a:srgbClr val="152D3A"/>
                          </a:solidFill>
                          <a:latin typeface="Arial"/>
                          <a:ea typeface="Arial"/>
                          <a:cs typeface="Arial"/>
                        </a:rPr>
                        <a:t>88,5 %</a:t>
                      </a:r>
                    </a:p>
                  </a:txBody>
                  <a:tcPr marL="91440" marR="91440" marT="45720" marB="45720">
                    <a:solidFill>
                      <a:srgbClr val="FFFFFF"/>
                    </a:solidFill>
                  </a:tcPr>
                </a:tc>
              </a:tr>
              <a:tr h="738188">
                <a:tc>
                  <a:txBody>
                    <a:bodyPr/>
                    <a:lstStyle/>
                    <a:p>
                      <a:r>
                        <a:rPr sz="1950" b="0">
                          <a:solidFill>
                            <a:srgbClr val="152D3A"/>
                          </a:solidFill>
                          <a:latin typeface="Arial"/>
                          <a:ea typeface="Arial"/>
                          <a:cs typeface="Arial"/>
                        </a:rPr>
                        <a:t>Hybrid mit Reranker</a:t>
                      </a:r>
                    </a:p>
                  </a:txBody>
                  <a:tcPr marL="91440" marR="91440" marT="45720" marB="45720">
                    <a:solidFill>
                      <a:srgbClr val="FFFFFF"/>
                    </a:solidFill>
                  </a:tcPr>
                </a:tc>
                <a:tc>
                  <a:txBody>
                    <a:bodyPr/>
                    <a:lstStyle/>
                    <a:p>
                      <a:r>
                        <a:rPr sz="1950" b="0">
                          <a:solidFill>
                            <a:srgbClr val="152D3A"/>
                          </a:solidFill>
                          <a:latin typeface="Arial"/>
                          <a:ea typeface="Arial"/>
                          <a:cs typeface="Arial"/>
                        </a:rPr>
                        <a:t>100 %</a:t>
                      </a:r>
                    </a:p>
                  </a:txBody>
                  <a:tcPr marL="91440" marR="91440" marT="45720" marB="45720">
                    <a:solidFill>
                      <a:srgbClr val="FFFFFF"/>
                    </a:solidFill>
                  </a:tcPr>
                </a:tc>
                <a:tc>
                  <a:txBody>
                    <a:bodyPr/>
                    <a:lstStyle/>
                    <a:p>
                      <a:r>
                        <a:rPr sz="1950" b="0">
                          <a:solidFill>
                            <a:srgbClr val="152D3A"/>
                          </a:solidFill>
                          <a:latin typeface="Arial"/>
                          <a:ea typeface="Arial"/>
                          <a:cs typeface="Arial"/>
                        </a:rPr>
                        <a:t>90 %</a:t>
                      </a:r>
                    </a:p>
                  </a:txBody>
                  <a:tcPr marL="91440" marR="91440" marT="45720" marB="45720">
                    <a:solidFill>
                      <a:srgbClr val="FFFFFF"/>
                    </a:solidFill>
                  </a:tcPr>
                </a:tc>
                <a:tc>
                  <a:txBody>
                    <a:bodyPr/>
                    <a:lstStyle/>
                    <a:p>
                      <a:r>
                        <a:rPr sz="1950" b="0">
                          <a:solidFill>
                            <a:srgbClr val="152D3A"/>
                          </a:solidFill>
                          <a:latin typeface="Arial"/>
                          <a:ea typeface="Arial"/>
                          <a:cs typeface="Arial"/>
                        </a:rPr>
                        <a:t>0,950</a:t>
                      </a:r>
                    </a:p>
                  </a:txBody>
                  <a:tcPr marL="91440" marR="91440" marT="45720" marB="45720">
                    <a:solidFill>
                      <a:srgbClr val="FFFFFF"/>
                    </a:solidFill>
                  </a:tcPr>
                </a:tc>
                <a:tc>
                  <a:txBody>
                    <a:bodyPr/>
                    <a:lstStyle/>
                    <a:p>
                      <a:r>
                        <a:rPr sz="1950" b="0">
                          <a:solidFill>
                            <a:srgbClr val="152D3A"/>
                          </a:solidFill>
                          <a:latin typeface="Arial"/>
                          <a:ea typeface="Arial"/>
                          <a:cs typeface="Arial"/>
                        </a:rPr>
                        <a:t>91,0 %</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92E9AAA9-1E30-4D42-8B31-5A351681FB3A}"/>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Stichwortbasierte Kennzahlen für n = 10. Sie bewerten keine generierten Antworten.</a:t>
            </a:r>
          </a:p>
        </p:txBody>
      </p:sp>
    </p:spTree>
    <p:extLst>
      <p:ext uri="{BB962C8B-B14F-4D97-AF65-F5344CB8AC3E}">
        <p14:creationId xmlns:p14="http://schemas.microsoft.com/office/powerpoint/2010/main" val="69894597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CC165DD-6105-4A11-BFA6-D54503AE2C46}"/>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Was die Retrieval-Metriken aussagen</a:t>
            </a:r>
          </a:p>
        </p:txBody>
      </p:sp>
      <p:sp>
        <p:nvSpPr>
          <p:cNvPr id="2" name="">
            <a:extLst xmlns:a="http://schemas.openxmlformats.org/drawingml/2006/main">
              <a:ext uri="{FF2B5EF4-FFF2-40B4-BE49-F238E27FC236}">
                <a16:creationId xmlns:a16="http://schemas.microsoft.com/office/drawing/2014/main" id="{7445719A-9BB1-45C6-AEA9-E19E5FAA3E06}"/>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29</a:t>
            </a:r>
          </a:p>
        </p:txBody>
      </p:sp>
      <p:graphicFrame>
        <p:nvGraphicFramePr>
          <p:cNvPr id="7" name=""/>
          <p:cNvGraphicFramePr/>
          <p:nvPr/>
        </p:nvGraphicFramePr>
        <p:xfrm>
          <a:off xmlns:a="http://schemas.openxmlformats.org/drawingml/2006/main" x="609600" y="1733550"/>
          <a:ext xmlns:a="http://schemas.openxmlformats.org/drawingml/2006/main" cx="10972800" cy="3286125"/>
        </p:xfrm>
        <a:graphic xmlns:a="http://schemas.openxmlformats.org/drawingml/2006/main">
          <a:graphicData uri="http://schemas.openxmlformats.org/drawingml/2006/table">
            <a:tbl>
              <a:tblPr/>
              <a:tblGrid>
                <a:gridCol w="3333750"/>
                <a:gridCol w="7639050"/>
              </a:tblGrid>
              <a:tr h="657225">
                <a:tc>
                  <a:txBody>
                    <a:bodyPr/>
                    <a:lstStyle/>
                    <a:p>
                      <a:r>
                        <a:rPr sz="1950" b="1">
                          <a:solidFill>
                            <a:srgbClr val="152D3A"/>
                          </a:solidFill>
                          <a:latin typeface="Arial"/>
                          <a:ea typeface="Arial"/>
                          <a:cs typeface="Arial"/>
                        </a:rPr>
                        <a:t>Metrik</a:t>
                      </a:r>
                    </a:p>
                  </a:txBody>
                  <a:tcPr marL="91440" marR="91440" marT="45720" marB="45720">
                    <a:solidFill>
                      <a:srgbClr val="EDF6F6"/>
                    </a:solidFill>
                  </a:tcPr>
                </a:tc>
                <a:tc>
                  <a:txBody>
                    <a:bodyPr/>
                    <a:lstStyle/>
                    <a:p>
                      <a:r>
                        <a:rPr sz="1950" b="1">
                          <a:solidFill>
                            <a:srgbClr val="152D3A"/>
                          </a:solidFill>
                          <a:latin typeface="Arial"/>
                          <a:ea typeface="Arial"/>
                          <a:cs typeface="Arial"/>
                        </a:rPr>
                        <a:t>Bedeutung im Projekt</a:t>
                      </a:r>
                    </a:p>
                  </a:txBody>
                  <a:tcPr marL="91440" marR="91440" marT="45720" marB="45720">
                    <a:solidFill>
                      <a:srgbClr val="EDF6F6"/>
                    </a:solidFill>
                  </a:tcPr>
                </a:tc>
              </a:tr>
              <a:tr h="657225">
                <a:tc>
                  <a:txBody>
                    <a:bodyPr/>
                    <a:lstStyle/>
                    <a:p>
                      <a:r>
                        <a:rPr sz="1950" b="0">
                          <a:solidFill>
                            <a:srgbClr val="152D3A"/>
                          </a:solidFill>
                          <a:latin typeface="Arial"/>
                          <a:ea typeface="Arial"/>
                          <a:cs typeface="Arial"/>
                        </a:rPr>
                        <a:t>Keyword-Hit@k</a:t>
                      </a:r>
                    </a:p>
                  </a:txBody>
                  <a:tcPr marL="91440" marR="91440" marT="45720" marB="45720">
                    <a:solidFill>
                      <a:srgbClr val="FFFFFF"/>
                    </a:solidFill>
                  </a:tcPr>
                </a:tc>
                <a:tc>
                  <a:txBody>
                    <a:bodyPr/>
                    <a:lstStyle/>
                    <a:p>
                      <a:r>
                        <a:rPr sz="1950" b="0">
                          <a:solidFill>
                            <a:srgbClr val="152D3A"/>
                          </a:solidFill>
                          <a:latin typeface="Arial"/>
                          <a:ea typeface="Arial"/>
                          <a:cs typeface="Arial"/>
                        </a:rPr>
                        <a:t>Mindestens ein erwartetes Stichwort in den Top-k</a:t>
                      </a:r>
                    </a:p>
                  </a:txBody>
                  <a:tcPr marL="91440" marR="91440" marT="45720" marB="45720">
                    <a:solidFill>
                      <a:srgbClr val="FFFFFF"/>
                    </a:solidFill>
                  </a:tcPr>
                </a:tc>
              </a:tr>
              <a:tr h="657225">
                <a:tc>
                  <a:txBody>
                    <a:bodyPr/>
                    <a:lstStyle/>
                    <a:p>
                      <a:r>
                        <a:rPr sz="1950" b="0">
                          <a:solidFill>
                            <a:srgbClr val="152D3A"/>
                          </a:solidFill>
                          <a:latin typeface="Arial"/>
                          <a:ea typeface="Arial"/>
                          <a:cs typeface="Arial"/>
                        </a:rPr>
                        <a:t>Keyword-Hit@1</a:t>
                      </a:r>
                    </a:p>
                  </a:txBody>
                  <a:tcPr marL="91440" marR="91440" marT="45720" marB="45720">
                    <a:solidFill>
                      <a:srgbClr val="FFFFFF"/>
                    </a:solidFill>
                  </a:tcPr>
                </a:tc>
                <a:tc>
                  <a:txBody>
                    <a:bodyPr/>
                    <a:lstStyle/>
                    <a:p>
                      <a:r>
                        <a:rPr sz="1950" b="0">
                          <a:solidFill>
                            <a:srgbClr val="152D3A"/>
                          </a:solidFill>
                          <a:latin typeface="Arial"/>
                          <a:ea typeface="Arial"/>
                          <a:cs typeface="Arial"/>
                        </a:rPr>
                        <a:t>Mindestens ein erwartetes Stichwort im ersten Treffer</a:t>
                      </a:r>
                    </a:p>
                  </a:txBody>
                  <a:tcPr marL="91440" marR="91440" marT="45720" marB="45720">
                    <a:solidFill>
                      <a:srgbClr val="FFFFFF"/>
                    </a:solidFill>
                  </a:tcPr>
                </a:tc>
              </a:tr>
              <a:tr h="657225">
                <a:tc>
                  <a:txBody>
                    <a:bodyPr/>
                    <a:lstStyle/>
                    <a:p>
                      <a:r>
                        <a:rPr sz="1950" b="0">
                          <a:solidFill>
                            <a:srgbClr val="152D3A"/>
                          </a:solidFill>
                          <a:latin typeface="Arial"/>
                          <a:ea typeface="Arial"/>
                          <a:cs typeface="Arial"/>
                        </a:rPr>
                        <a:t>Keyword-MRR</a:t>
                      </a:r>
                    </a:p>
                  </a:txBody>
                  <a:tcPr marL="91440" marR="91440" marT="45720" marB="45720">
                    <a:solidFill>
                      <a:srgbClr val="FFFFFF"/>
                    </a:solidFill>
                  </a:tcPr>
                </a:tc>
                <a:tc>
                  <a:txBody>
                    <a:bodyPr/>
                    <a:lstStyle/>
                    <a:p>
                      <a:r>
                        <a:rPr sz="1950" b="0">
                          <a:solidFill>
                            <a:srgbClr val="152D3A"/>
                          </a:solidFill>
                          <a:latin typeface="Arial"/>
                          <a:ea typeface="Arial"/>
                          <a:cs typeface="Arial"/>
                        </a:rPr>
                        <a:t>Mittelwert von 1 / Rang des ersten Stichworttreffers</a:t>
                      </a:r>
                    </a:p>
                  </a:txBody>
                  <a:tcPr marL="91440" marR="91440" marT="45720" marB="45720">
                    <a:solidFill>
                      <a:srgbClr val="FFFFFF"/>
                    </a:solidFill>
                  </a:tcPr>
                </a:tc>
              </a:tr>
              <a:tr h="657225">
                <a:tc>
                  <a:txBody>
                    <a:bodyPr/>
                    <a:lstStyle/>
                    <a:p>
                      <a:r>
                        <a:rPr sz="1950" b="0">
                          <a:solidFill>
                            <a:srgbClr val="152D3A"/>
                          </a:solidFill>
                          <a:latin typeface="Arial"/>
                          <a:ea typeface="Arial"/>
                          <a:cs typeface="Arial"/>
                        </a:rPr>
                        <a:t>Keyword-Abdeckung</a:t>
                      </a:r>
                    </a:p>
                  </a:txBody>
                  <a:tcPr marL="91440" marR="91440" marT="45720" marB="45720">
                    <a:solidFill>
                      <a:srgbClr val="FFFFFF"/>
                    </a:solidFill>
                  </a:tcPr>
                </a:tc>
                <a:tc>
                  <a:txBody>
                    <a:bodyPr/>
                    <a:lstStyle/>
                    <a:p>
                      <a:r>
                        <a:rPr sz="1950" b="0">
                          <a:solidFill>
                            <a:srgbClr val="152D3A"/>
                          </a:solidFill>
                          <a:latin typeface="Arial"/>
                          <a:ea typeface="Arial"/>
                          <a:cs typeface="Arial"/>
                        </a:rPr>
                        <a:t>Anteil gefundener erwarteter Stichwörter</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60DAC92-E53D-4BEC-A199-B4DFAE4F6A76}"/>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Eine Trefferquote von 100 % würde keine 100 % korrekten Antworten belegen.</a:t>
            </a:r>
          </a:p>
        </p:txBody>
      </p:sp>
    </p:spTree>
    <p:extLst>
      <p:ext uri="{BB962C8B-B14F-4D97-AF65-F5344CB8AC3E}">
        <p14:creationId xmlns:p14="http://schemas.microsoft.com/office/powerpoint/2010/main" val="200942296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E20836-912C-4119-BA9E-E74E6DDE45DB}"/>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Gezielte Erweiterung des Evaluationssatzes</a:t>
            </a:r>
          </a:p>
        </p:txBody>
      </p:sp>
      <p:sp>
        <p:nvSpPr>
          <p:cNvPr id="2" name="">
            <a:extLst xmlns:a="http://schemas.openxmlformats.org/drawingml/2006/main">
              <a:ext uri="{FF2B5EF4-FFF2-40B4-BE49-F238E27FC236}">
                <a16:creationId xmlns:a16="http://schemas.microsoft.com/office/drawing/2014/main" id="{76B10B7A-9B87-4842-BCCA-4B60CCA6236D}"/>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30</a:t>
            </a:r>
          </a:p>
        </p:txBody>
      </p:sp>
      <p:sp>
        <p:nvSpPr>
          <p:cNvPr id="3" name="">
            <a:extLst xmlns:a="http://schemas.openxmlformats.org/drawingml/2006/main">
              <a:ext uri="{FF2B5EF4-FFF2-40B4-BE49-F238E27FC236}">
                <a16:creationId xmlns:a16="http://schemas.microsoft.com/office/drawing/2014/main" id="{2A7224FC-195F-4723-B11A-26FB908270D2}"/>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Präzise Codes</a:t>
            </a:r>
          </a:p>
        </p:txBody>
      </p:sp>
      <p:sp>
        <p:nvSpPr>
          <p:cNvPr id="4" name="">
            <a:extLst xmlns:a="http://schemas.openxmlformats.org/drawingml/2006/main">
              <a:ext uri="{FF2B5EF4-FFF2-40B4-BE49-F238E27FC236}">
                <a16:creationId xmlns:a16="http://schemas.microsoft.com/office/drawing/2014/main" id="{AB694FBD-6BAD-4E38-9700-9F919CCDFF51}"/>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E18, E:18, E:180, unbekannte Codes und mehrere Codes in einer Frage.</a:t>
            </a:r>
          </a:p>
        </p:txBody>
      </p:sp>
      <p:sp>
        <p:nvSpPr>
          <p:cNvPr id="5" name="">
            <a:extLst xmlns:a="http://schemas.openxmlformats.org/drawingml/2006/main">
              <a:ext uri="{FF2B5EF4-FFF2-40B4-BE49-F238E27FC236}">
                <a16:creationId xmlns:a16="http://schemas.microsoft.com/office/drawing/2014/main" id="{D81BB79A-49A3-4108-8023-DD98B9891FBD}"/>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Grenzfälle</a:t>
            </a:r>
          </a:p>
        </p:txBody>
      </p:sp>
      <p:sp>
        <p:nvSpPr>
          <p:cNvPr id="6" name="">
            <a:extLst xmlns:a="http://schemas.openxmlformats.org/drawingml/2006/main">
              <a:ext uri="{FF2B5EF4-FFF2-40B4-BE49-F238E27FC236}">
                <a16:creationId xmlns:a16="http://schemas.microsoft.com/office/drawing/2014/main" id="{86403CC5-4A74-485A-BB53-E79F7C3135FC}"/>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Falsches Gerätemodell, fehlende Informationen und fremde Themen.</a:t>
            </a:r>
          </a:p>
        </p:txBody>
      </p:sp>
      <p:sp>
        <p:nvSpPr>
          <p:cNvPr id="7" name="">
            <a:extLst xmlns:a="http://schemas.openxmlformats.org/drawingml/2006/main">
              <a:ext uri="{FF2B5EF4-FFF2-40B4-BE49-F238E27FC236}">
                <a16:creationId xmlns:a16="http://schemas.microsoft.com/office/drawing/2014/main" id="{89978F08-B41C-4A8F-8F84-834B60B928EA}"/>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Sicherheitsbezug</a:t>
            </a:r>
          </a:p>
        </p:txBody>
      </p:sp>
      <p:sp>
        <p:nvSpPr>
          <p:cNvPr id="8" name="">
            <a:extLst xmlns:a="http://schemas.openxmlformats.org/drawingml/2006/main">
              <a:ext uri="{FF2B5EF4-FFF2-40B4-BE49-F238E27FC236}">
                <a16:creationId xmlns:a16="http://schemas.microsoft.com/office/drawing/2014/main" id="{51B4A93A-7955-49F5-8A55-4747C10354DC}"/>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Warnhinweise erhalten, Kundendiensthinweise nicht abschwächen.</a:t>
            </a:r>
          </a:p>
        </p:txBody>
      </p:sp>
      <p:sp>
        <p:nvSpPr>
          <p:cNvPr id="9" name="">
            <a:extLst xmlns:a="http://schemas.openxmlformats.org/drawingml/2006/main">
              <a:ext uri="{FF2B5EF4-FFF2-40B4-BE49-F238E27FC236}">
                <a16:creationId xmlns:a16="http://schemas.microsoft.com/office/drawing/2014/main" id="{5301E865-B072-4738-9986-5FD0114D9040}"/>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Messung</a:t>
            </a:r>
          </a:p>
        </p:txBody>
      </p:sp>
      <p:sp>
        <p:nvSpPr>
          <p:cNvPr id="10" name="">
            <a:extLst xmlns:a="http://schemas.openxmlformats.org/drawingml/2006/main">
              <a:ext uri="{FF2B5EF4-FFF2-40B4-BE49-F238E27FC236}">
                <a16:creationId xmlns:a16="http://schemas.microsoft.com/office/drawing/2014/main" id="{AA65765B-0D02-48B6-92DB-68DAAA3E4F39}"/>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Relevante Abschnitte von Hand markieren, Antworten fachlich bewerten.</a:t>
            </a:r>
          </a:p>
        </p:txBody>
      </p:sp>
    </p:spTree>
    <p:extLst>
      <p:ext uri="{BB962C8B-B14F-4D97-AF65-F5344CB8AC3E}">
        <p14:creationId xmlns:p14="http://schemas.microsoft.com/office/powerpoint/2010/main" val="34899086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763E0A3-3E9D-4F9A-9616-3C18DBF4827E}"/>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Datenbankoptionen für größere Anwendungen</a:t>
            </a:r>
          </a:p>
        </p:txBody>
      </p:sp>
      <p:sp>
        <p:nvSpPr>
          <p:cNvPr id="2" name="">
            <a:extLst xmlns:a="http://schemas.openxmlformats.org/drawingml/2006/main">
              <a:ext uri="{FF2B5EF4-FFF2-40B4-BE49-F238E27FC236}">
                <a16:creationId xmlns:a16="http://schemas.microsoft.com/office/drawing/2014/main" id="{3FD8428F-F1A5-4283-8B40-B28C8C3D824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31</a:t>
            </a:r>
          </a:p>
        </p:txBody>
      </p:sp>
      <p:graphicFrame>
        <p:nvGraphicFramePr>
          <p:cNvPr id="7" name=""/>
          <p:cNvGraphicFramePr/>
          <p:nvPr/>
        </p:nvGraphicFramePr>
        <p:xfrm>
          <a:off xmlns:a="http://schemas.openxmlformats.org/drawingml/2006/main" x="609600" y="1724025"/>
          <a:ext xmlns:a="http://schemas.openxmlformats.org/drawingml/2006/main" cx="10972800" cy="3333750"/>
        </p:xfrm>
        <a:graphic xmlns:a="http://schemas.openxmlformats.org/drawingml/2006/main">
          <a:graphicData uri="http://schemas.openxmlformats.org/drawingml/2006/table">
            <a:tbl>
              <a:tblPr/>
              <a:tblGrid>
                <a:gridCol w="3457575"/>
                <a:gridCol w="5010150"/>
                <a:gridCol w="2505075"/>
              </a:tblGrid>
              <a:tr h="666750">
                <a:tc>
                  <a:txBody>
                    <a:bodyPr/>
                    <a:lstStyle/>
                    <a:p>
                      <a:r>
                        <a:rPr sz="1875" b="1">
                          <a:solidFill>
                            <a:srgbClr val="152D3A"/>
                          </a:solidFill>
                          <a:latin typeface="Arial"/>
                          <a:ea typeface="Arial"/>
                          <a:cs typeface="Arial"/>
                        </a:rPr>
                        <a:t>Speicher</a:t>
                      </a:r>
                    </a:p>
                  </a:txBody>
                  <a:tcPr marL="91440" marR="91440" marT="45720" marB="45720">
                    <a:solidFill>
                      <a:srgbClr val="EDF6F6"/>
                    </a:solidFill>
                  </a:tcPr>
                </a:tc>
                <a:tc>
                  <a:txBody>
                    <a:bodyPr/>
                    <a:lstStyle/>
                    <a:p>
                      <a:r>
                        <a:rPr sz="1875" b="1">
                          <a:solidFill>
                            <a:srgbClr val="152D3A"/>
                          </a:solidFill>
                          <a:latin typeface="Arial"/>
                          <a:ea typeface="Arial"/>
                          <a:cs typeface="Arial"/>
                        </a:rPr>
                        <a:t>Möglicher Anlass</a:t>
                      </a:r>
                    </a:p>
                  </a:txBody>
                  <a:tcPr marL="91440" marR="91440" marT="45720" marB="45720">
                    <a:solidFill>
                      <a:srgbClr val="EDF6F6"/>
                    </a:solidFill>
                  </a:tcPr>
                </a:tc>
                <a:tc>
                  <a:txBody>
                    <a:bodyPr/>
                    <a:lstStyle/>
                    <a:p>
                      <a:r>
                        <a:rPr sz="1875" b="1">
                          <a:solidFill>
                            <a:srgbClr val="152D3A"/>
                          </a:solidFill>
                          <a:latin typeface="Arial"/>
                          <a:ea typeface="Arial"/>
                          <a:cs typeface="Arial"/>
                        </a:rPr>
                        <a:t>Status hier</a:t>
                      </a:r>
                    </a:p>
                  </a:txBody>
                  <a:tcPr marL="91440" marR="91440" marT="45720" marB="45720">
                    <a:solidFill>
                      <a:srgbClr val="EDF6F6"/>
                    </a:solidFill>
                  </a:tcPr>
                </a:tc>
              </a:tr>
              <a:tr h="666750">
                <a:tc>
                  <a:txBody>
                    <a:bodyPr/>
                    <a:lstStyle/>
                    <a:p>
                      <a:r>
                        <a:rPr sz="1875" b="0">
                          <a:solidFill>
                            <a:srgbClr val="152D3A"/>
                          </a:solidFill>
                          <a:latin typeface="Arial"/>
                          <a:ea typeface="Arial"/>
                          <a:cs typeface="Arial"/>
                        </a:rPr>
                        <a:t>LlamaIndex JSON</a:t>
                      </a:r>
                    </a:p>
                  </a:txBody>
                  <a:tcPr marL="91440" marR="91440" marT="45720" marB="45720">
                    <a:solidFill>
                      <a:srgbClr val="FFFFFF"/>
                    </a:solidFill>
                  </a:tcPr>
                </a:tc>
                <a:tc>
                  <a:txBody>
                    <a:bodyPr/>
                    <a:lstStyle/>
                    <a:p>
                      <a:r>
                        <a:rPr sz="1875" b="0">
                          <a:solidFill>
                            <a:srgbClr val="152D3A"/>
                          </a:solidFill>
                          <a:latin typeface="Arial"/>
                          <a:ea typeface="Arial"/>
                          <a:cs typeface="Arial"/>
                        </a:rPr>
                        <a:t>Einzelnes Dokument und lokale Demo</a:t>
                      </a:r>
                    </a:p>
                  </a:txBody>
                  <a:tcPr marL="91440" marR="91440" marT="45720" marB="45720">
                    <a:solidFill>
                      <a:srgbClr val="FFFFFF"/>
                    </a:solidFill>
                  </a:tcPr>
                </a:tc>
                <a:tc>
                  <a:txBody>
                    <a:bodyPr/>
                    <a:lstStyle/>
                    <a:p>
                      <a:r>
                        <a:rPr sz="1875" b="0">
                          <a:solidFill>
                            <a:srgbClr val="152D3A"/>
                          </a:solidFill>
                          <a:latin typeface="Arial"/>
                          <a:ea typeface="Arial"/>
                          <a:cs typeface="Arial"/>
                        </a:rPr>
                        <a:t>Im Einsatz</a:t>
                      </a:r>
                    </a:p>
                  </a:txBody>
                  <a:tcPr marL="91440" marR="91440" marT="45720" marB="45720">
                    <a:solidFill>
                      <a:srgbClr val="FFFFFF"/>
                    </a:solidFill>
                  </a:tcPr>
                </a:tc>
              </a:tr>
              <a:tr h="666750">
                <a:tc>
                  <a:txBody>
                    <a:bodyPr/>
                    <a:lstStyle/>
                    <a:p>
                      <a:r>
                        <a:rPr sz="1875" b="0">
                          <a:solidFill>
                            <a:srgbClr val="152D3A"/>
                          </a:solidFill>
                          <a:latin typeface="Arial"/>
                          <a:ea typeface="Arial"/>
                          <a:cs typeface="Arial"/>
                        </a:rPr>
                        <a:t>PostgreSQL + pgvector</a:t>
                      </a:r>
                    </a:p>
                  </a:txBody>
                  <a:tcPr marL="91440" marR="91440" marT="45720" marB="45720">
                    <a:solidFill>
                      <a:srgbClr val="FFFFFF"/>
                    </a:solidFill>
                  </a:tcPr>
                </a:tc>
                <a:tc>
                  <a:txBody>
                    <a:bodyPr/>
                    <a:lstStyle/>
                    <a:p>
                      <a:r>
                        <a:rPr sz="1875" b="0">
                          <a:solidFill>
                            <a:srgbClr val="152D3A"/>
                          </a:solidFill>
                          <a:latin typeface="Arial"/>
                          <a:ea typeface="Arial"/>
                          <a:cs typeface="Arial"/>
                        </a:rPr>
                        <a:t>SQL, Beziehungen und Vektoren gemeinsam</a:t>
                      </a:r>
                    </a:p>
                  </a:txBody>
                  <a:tcPr marL="91440" marR="91440" marT="45720" marB="45720">
                    <a:solidFill>
                      <a:srgbClr val="FFFFFF"/>
                    </a:solidFill>
                  </a:tcPr>
                </a:tc>
                <a:tc>
                  <a:txBody>
                    <a:bodyPr/>
                    <a:lstStyle/>
                    <a:p>
                      <a:r>
                        <a:rPr sz="1875" b="0">
                          <a:solidFill>
                            <a:srgbClr val="152D3A"/>
                          </a:solidFill>
                          <a:latin typeface="Arial"/>
                          <a:ea typeface="Arial"/>
                          <a:cs typeface="Arial"/>
                        </a:rPr>
                        <a:t>Nicht eingesetzt</a:t>
                      </a:r>
                    </a:p>
                  </a:txBody>
                  <a:tcPr marL="91440" marR="91440" marT="45720" marB="45720">
                    <a:solidFill>
                      <a:srgbClr val="FFFFFF"/>
                    </a:solidFill>
                  </a:tcPr>
                </a:tc>
              </a:tr>
              <a:tr h="666750">
                <a:tc>
                  <a:txBody>
                    <a:bodyPr/>
                    <a:lstStyle/>
                    <a:p>
                      <a:r>
                        <a:rPr sz="1875" b="0">
                          <a:solidFill>
                            <a:srgbClr val="152D3A"/>
                          </a:solidFill>
                          <a:latin typeface="Arial"/>
                          <a:ea typeface="Arial"/>
                          <a:cs typeface="Arial"/>
                        </a:rPr>
                        <a:t>Qdrant</a:t>
                      </a:r>
                    </a:p>
                  </a:txBody>
                  <a:tcPr marL="91440" marR="91440" marT="45720" marB="45720">
                    <a:solidFill>
                      <a:srgbClr val="FFFFFF"/>
                    </a:solidFill>
                  </a:tcPr>
                </a:tc>
                <a:tc>
                  <a:txBody>
                    <a:bodyPr/>
                    <a:lstStyle/>
                    <a:p>
                      <a:r>
                        <a:rPr sz="1875" b="0">
                          <a:solidFill>
                            <a:srgbClr val="152D3A"/>
                          </a:solidFill>
                          <a:latin typeface="Arial"/>
                          <a:ea typeface="Arial"/>
                          <a:cs typeface="Arial"/>
                        </a:rPr>
                        <a:t>Vektorsuche mit Metadatenfiltern</a:t>
                      </a:r>
                    </a:p>
                  </a:txBody>
                  <a:tcPr marL="91440" marR="91440" marT="45720" marB="45720">
                    <a:solidFill>
                      <a:srgbClr val="FFFFFF"/>
                    </a:solidFill>
                  </a:tcPr>
                </a:tc>
                <a:tc>
                  <a:txBody>
                    <a:bodyPr/>
                    <a:lstStyle/>
                    <a:p>
                      <a:r>
                        <a:rPr sz="1875" b="0">
                          <a:solidFill>
                            <a:srgbClr val="152D3A"/>
                          </a:solidFill>
                          <a:latin typeface="Arial"/>
                          <a:ea typeface="Arial"/>
                          <a:cs typeface="Arial"/>
                        </a:rPr>
                        <a:t>Nicht eingesetzt</a:t>
                      </a:r>
                    </a:p>
                  </a:txBody>
                  <a:tcPr marL="91440" marR="91440" marT="45720" marB="45720">
                    <a:solidFill>
                      <a:srgbClr val="FFFFFF"/>
                    </a:solidFill>
                  </a:tcPr>
                </a:tc>
              </a:tr>
              <a:tr h="666750">
                <a:tc>
                  <a:txBody>
                    <a:bodyPr/>
                    <a:lstStyle/>
                    <a:p>
                      <a:r>
                        <a:rPr sz="1875" b="0">
                          <a:solidFill>
                            <a:srgbClr val="152D3A"/>
                          </a:solidFill>
                          <a:latin typeface="Arial"/>
                          <a:ea typeface="Arial"/>
                          <a:cs typeface="Arial"/>
                        </a:rPr>
                        <a:t>Chroma</a:t>
                      </a:r>
                    </a:p>
                  </a:txBody>
                  <a:tcPr marL="91440" marR="91440" marT="45720" marB="45720">
                    <a:solidFill>
                      <a:srgbClr val="FFFFFF"/>
                    </a:solidFill>
                  </a:tcPr>
                </a:tc>
                <a:tc>
                  <a:txBody>
                    <a:bodyPr/>
                    <a:lstStyle/>
                    <a:p>
                      <a:r>
                        <a:rPr sz="1875" b="0">
                          <a:solidFill>
                            <a:srgbClr val="152D3A"/>
                          </a:solidFill>
                          <a:latin typeface="Arial"/>
                          <a:ea typeface="Arial"/>
                          <a:cs typeface="Arial"/>
                        </a:rPr>
                        <a:t>Dokument-/Embedding-Speicherung</a:t>
                      </a:r>
                    </a:p>
                  </a:txBody>
                  <a:tcPr marL="91440" marR="91440" marT="45720" marB="45720">
                    <a:solidFill>
                      <a:srgbClr val="FFFFFF"/>
                    </a:solidFill>
                  </a:tcPr>
                </a:tc>
                <a:tc>
                  <a:txBody>
                    <a:bodyPr/>
                    <a:lstStyle/>
                    <a:p>
                      <a:r>
                        <a:rPr sz="1875" b="0">
                          <a:solidFill>
                            <a:srgbClr val="152D3A"/>
                          </a:solidFill>
                          <a:latin typeface="Arial"/>
                          <a:ea typeface="Arial"/>
                          <a:cs typeface="Arial"/>
                        </a:rPr>
                        <a:t>Nicht eingesetzt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74CA2CF-1B56-421A-926D-875D2A8E460C}"/>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Betrieb, Backups, Mehrbenutzerzugriff und Datenmengen bestimmen die Wahl.</a:t>
            </a:r>
          </a:p>
        </p:txBody>
      </p:sp>
    </p:spTree>
    <p:extLst>
      <p:ext uri="{BB962C8B-B14F-4D97-AF65-F5344CB8AC3E}">
        <p14:creationId xmlns:p14="http://schemas.microsoft.com/office/powerpoint/2010/main" val="132909064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DE4262-3D26-494E-9008-61CEFCAE7A70}"/>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Betrieb auf deinem Mac</a:t>
            </a:r>
          </a:p>
        </p:txBody>
      </p:sp>
      <p:sp>
        <p:nvSpPr>
          <p:cNvPr id="2" name="">
            <a:extLst xmlns:a="http://schemas.openxmlformats.org/drawingml/2006/main">
              <a:ext uri="{FF2B5EF4-FFF2-40B4-BE49-F238E27FC236}">
                <a16:creationId xmlns:a16="http://schemas.microsoft.com/office/drawing/2014/main" id="{60395A2F-EE01-4722-8001-E50CD847B902}"/>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32</a:t>
            </a:r>
          </a:p>
        </p:txBody>
      </p:sp>
      <p:sp>
        <p:nvSpPr>
          <p:cNvPr id="3" name="">
            <a:extLst xmlns:a="http://schemas.openxmlformats.org/drawingml/2006/main">
              <a:ext uri="{FF2B5EF4-FFF2-40B4-BE49-F238E27FC236}">
                <a16:creationId xmlns:a16="http://schemas.microsoft.com/office/drawing/2014/main" id="{AD558775-1EDF-4C6B-B017-889178762033}"/>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1. Umgebung</a:t>
            </a:r>
          </a:p>
        </p:txBody>
      </p:sp>
      <p:sp>
        <p:nvSpPr>
          <p:cNvPr id="4" name="">
            <a:extLst xmlns:a="http://schemas.openxmlformats.org/drawingml/2006/main">
              <a:ext uri="{FF2B5EF4-FFF2-40B4-BE49-F238E27FC236}">
                <a16:creationId xmlns:a16="http://schemas.microsoft.com/office/drawing/2014/main" id="{57B87B6B-2B78-4F57-BDEB-C7BA89FB9578}"/>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Python 3.12 und requirements.txt installieren.</a:t>
            </a:r>
          </a:p>
        </p:txBody>
      </p:sp>
      <p:sp>
        <p:nvSpPr>
          <p:cNvPr id="5" name="">
            <a:extLst xmlns:a="http://schemas.openxmlformats.org/drawingml/2006/main">
              <a:ext uri="{FF2B5EF4-FFF2-40B4-BE49-F238E27FC236}">
                <a16:creationId xmlns:a16="http://schemas.microsoft.com/office/drawing/2014/main" id="{2D13C379-2144-43EC-B835-C8C0C9484789}"/>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2. LM Studio</a:t>
            </a:r>
          </a:p>
        </p:txBody>
      </p:sp>
      <p:sp>
        <p:nvSpPr>
          <p:cNvPr id="6" name="">
            <a:extLst xmlns:a="http://schemas.openxmlformats.org/drawingml/2006/main">
              <a:ext uri="{FF2B5EF4-FFF2-40B4-BE49-F238E27FC236}">
                <a16:creationId xmlns:a16="http://schemas.microsoft.com/office/drawing/2014/main" id="{B58A9ECC-2633-490C-B213-52754CDB6970}"/>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Instruct-Modell laden und lokalen Server starten.</a:t>
            </a:r>
          </a:p>
        </p:txBody>
      </p:sp>
      <p:sp>
        <p:nvSpPr>
          <p:cNvPr id="7" name="">
            <a:extLst xmlns:a="http://schemas.openxmlformats.org/drawingml/2006/main">
              <a:ext uri="{FF2B5EF4-FFF2-40B4-BE49-F238E27FC236}">
                <a16:creationId xmlns:a16="http://schemas.microsoft.com/office/drawing/2014/main" id="{8CDF612A-BF78-459E-9452-251F3C51FF88}"/>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3. Konfiguration</a:t>
            </a:r>
          </a:p>
        </p:txBody>
      </p:sp>
      <p:sp>
        <p:nvSpPr>
          <p:cNvPr id="8" name="">
            <a:extLst xmlns:a="http://schemas.openxmlformats.org/drawingml/2006/main">
              <a:ext uri="{FF2B5EF4-FFF2-40B4-BE49-F238E27FC236}">
                <a16:creationId xmlns:a16="http://schemas.microsoft.com/office/drawing/2014/main" id="{9D67CA69-7490-4027-BCCD-1E6BFEFA3F63}"/>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profiles/local/.env mit Endpoint und genauer Modell-ID.</a:t>
            </a:r>
          </a:p>
        </p:txBody>
      </p:sp>
      <p:sp>
        <p:nvSpPr>
          <p:cNvPr id="9" name="">
            <a:extLst xmlns:a="http://schemas.openxmlformats.org/drawingml/2006/main">
              <a:ext uri="{FF2B5EF4-FFF2-40B4-BE49-F238E27FC236}">
                <a16:creationId xmlns:a16="http://schemas.microsoft.com/office/drawing/2014/main" id="{C81EA1D4-9271-4BD5-8A50-F3C603464EB6}"/>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4. Start</a:t>
            </a:r>
          </a:p>
        </p:txBody>
      </p:sp>
      <p:sp>
        <p:nvSpPr>
          <p:cNvPr id="10" name="">
            <a:extLst xmlns:a="http://schemas.openxmlformats.org/drawingml/2006/main">
              <a:ext uri="{FF2B5EF4-FFF2-40B4-BE49-F238E27FC236}">
                <a16:creationId xmlns:a16="http://schemas.microsoft.com/office/drawing/2014/main" id="{0A96BCF5-D8F6-499B-BA3E-BD1CF45E507F}"/>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python server.py, localhost:3001 öffnen und „Lokal“ wählen.</a:t>
            </a:r>
          </a:p>
        </p:txBody>
      </p:sp>
    </p:spTree>
    <p:extLst>
      <p:ext uri="{BB962C8B-B14F-4D97-AF65-F5344CB8AC3E}">
        <p14:creationId xmlns:p14="http://schemas.microsoft.com/office/powerpoint/2010/main" val="163363544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2FFDB4-C93B-44C4-94EB-6356D3FA4398}"/>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OpenAI: Schlüssel direkt im GUI</a:t>
            </a:r>
          </a:p>
        </p:txBody>
      </p:sp>
      <p:sp>
        <p:nvSpPr>
          <p:cNvPr id="2" name="">
            <a:extLst xmlns:a="http://schemas.openxmlformats.org/drawingml/2006/main">
              <a:ext uri="{FF2B5EF4-FFF2-40B4-BE49-F238E27FC236}">
                <a16:creationId xmlns:a16="http://schemas.microsoft.com/office/drawing/2014/main" id="{CC79666E-C5D6-4C29-B397-47EE58DB462C}"/>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33</a:t>
            </a:r>
          </a:p>
        </p:txBody>
      </p:sp>
      <p:sp>
        <p:nvSpPr>
          <p:cNvPr id="3" name="">
            <a:extLst xmlns:a="http://schemas.openxmlformats.org/drawingml/2006/main">
              <a:ext uri="{FF2B5EF4-FFF2-40B4-BE49-F238E27FC236}">
                <a16:creationId xmlns:a16="http://schemas.microsoft.com/office/drawing/2014/main" id="{700908BE-4B47-4D37-A22F-578AF4462BEE}"/>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1. Anwendung</a:t>
            </a:r>
          </a:p>
        </p:txBody>
      </p:sp>
      <p:sp>
        <p:nvSpPr>
          <p:cNvPr id="4" name="">
            <a:extLst xmlns:a="http://schemas.openxmlformats.org/drawingml/2006/main">
              <a:ext uri="{FF2B5EF4-FFF2-40B4-BE49-F238E27FC236}">
                <a16:creationId xmlns:a16="http://schemas.microsoft.com/office/drawing/2014/main" id="{154E42D4-64F1-48FF-A255-BABDD1E7602E}"/>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python server.py, danach localhost:3001 öffnen.</a:t>
            </a:r>
          </a:p>
        </p:txBody>
      </p:sp>
      <p:sp>
        <p:nvSpPr>
          <p:cNvPr id="5" name="">
            <a:extLst xmlns:a="http://schemas.openxmlformats.org/drawingml/2006/main">
              <a:ext uri="{FF2B5EF4-FFF2-40B4-BE49-F238E27FC236}">
                <a16:creationId xmlns:a16="http://schemas.microsoft.com/office/drawing/2014/main" id="{C28CCC9B-12FA-46DE-B2FC-051D9CBFDDCF}"/>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2. Schlüsseleingabe</a:t>
            </a:r>
          </a:p>
        </p:txBody>
      </p:sp>
      <p:sp>
        <p:nvSpPr>
          <p:cNvPr id="6" name="">
            <a:extLst xmlns:a="http://schemas.openxmlformats.org/drawingml/2006/main">
              <a:ext uri="{FF2B5EF4-FFF2-40B4-BE49-F238E27FC236}">
                <a16:creationId xmlns:a16="http://schemas.microsoft.com/office/drawing/2014/main" id="{89C49F27-F408-449A-8688-037BA59617EE}"/>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„OpenAI-Schlüssel für diese Sitzung“ öffnen und API-Key eingeben.</a:t>
            </a:r>
          </a:p>
        </p:txBody>
      </p:sp>
      <p:sp>
        <p:nvSpPr>
          <p:cNvPr id="7" name="">
            <a:extLst xmlns:a="http://schemas.openxmlformats.org/drawingml/2006/main">
              <a:ext uri="{FF2B5EF4-FFF2-40B4-BE49-F238E27FC236}">
                <a16:creationId xmlns:a16="http://schemas.microsoft.com/office/drawing/2014/main" id="{6EDB3C10-A5EB-4597-9694-6E21144F1DE2}"/>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3. Modellauswahl</a:t>
            </a:r>
          </a:p>
        </p:txBody>
      </p:sp>
      <p:sp>
        <p:nvSpPr>
          <p:cNvPr id="8" name="">
            <a:extLst xmlns:a="http://schemas.openxmlformats.org/drawingml/2006/main">
              <a:ext uri="{FF2B5EF4-FFF2-40B4-BE49-F238E27FC236}">
                <a16:creationId xmlns:a16="http://schemas.microsoft.com/office/drawing/2014/main" id="{986AF959-0242-4F87-9BB4-F5AE07B4CE81}"/>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„Für diese Sitzung verwenden“, dann OpenAI API wählen.</a:t>
            </a:r>
          </a:p>
        </p:txBody>
      </p:sp>
      <p:sp>
        <p:nvSpPr>
          <p:cNvPr id="9" name="">
            <a:extLst xmlns:a="http://schemas.openxmlformats.org/drawingml/2006/main">
              <a:ext uri="{FF2B5EF4-FFF2-40B4-BE49-F238E27FC236}">
                <a16:creationId xmlns:a16="http://schemas.microsoft.com/office/drawing/2014/main" id="{944F68FE-E5BD-45E9-941D-640960F48A8C}"/>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4. Beenden</a:t>
            </a:r>
          </a:p>
        </p:txBody>
      </p:sp>
      <p:sp>
        <p:nvSpPr>
          <p:cNvPr id="10" name="">
            <a:extLst xmlns:a="http://schemas.openxmlformats.org/drawingml/2006/main">
              <a:ext uri="{FF2B5EF4-FFF2-40B4-BE49-F238E27FC236}">
                <a16:creationId xmlns:a16="http://schemas.microsoft.com/office/drawing/2014/main" id="{B633A4CD-1FA1-43EA-8802-B45F16EFCF15}"/>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„Key entfernen“ oder Server beenden. Keine dauerhafte Speicherung.</a:t>
            </a:r>
          </a:p>
        </p:txBody>
      </p:sp>
    </p:spTree>
    <p:extLst>
      <p:ext uri="{BB962C8B-B14F-4D97-AF65-F5344CB8AC3E}">
        <p14:creationId xmlns:p14="http://schemas.microsoft.com/office/powerpoint/2010/main" val="7433813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4DDA87-C66F-4B22-A525-69770A540E25}"/>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Schlüssel bleibt in der lokalen Sitzung</a:t>
            </a:r>
          </a:p>
        </p:txBody>
      </p:sp>
      <p:sp>
        <p:nvSpPr>
          <p:cNvPr id="2" name="">
            <a:extLst xmlns:a="http://schemas.openxmlformats.org/drawingml/2006/main">
              <a:ext uri="{FF2B5EF4-FFF2-40B4-BE49-F238E27FC236}">
                <a16:creationId xmlns:a16="http://schemas.microsoft.com/office/drawing/2014/main" id="{AA4C9930-77D7-4ABC-AE4B-AE568453C111}"/>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34</a:t>
            </a:r>
          </a:p>
        </p:txBody>
      </p:sp>
      <p:sp>
        <p:nvSpPr>
          <p:cNvPr id="3" name="">
            <a:extLst xmlns:a="http://schemas.openxmlformats.org/drawingml/2006/main">
              <a:ext uri="{FF2B5EF4-FFF2-40B4-BE49-F238E27FC236}">
                <a16:creationId xmlns:a16="http://schemas.microsoft.com/office/drawing/2014/main" id="{052B2E0A-A662-4451-9318-56F048132A99}"/>
              </a:ext>
            </a:extLst>
          </p:cNvPr>
          <p:cNvSpPr>
            <a:spLocks xmlns:a="http://schemas.openxmlformats.org/drawingml/2006/main" noGrp="1"/>
          </p:cNvSpPr>
          <p:nvPr/>
        </p:nvSpPr>
        <p:spPr>
          <a:xfrm xmlns:a="http://schemas.openxmlformats.org/drawingml/2006/main">
            <a:off x="609600" y="2428875"/>
            <a:ext cx="34036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Passwortfeld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im lokalen GUI</a:t>
            </a:r>
          </a:p>
        </p:txBody>
      </p:sp>
      <p:sp>
        <p:nvSpPr>
          <p:cNvPr id="4" name="">
            <a:extLst xmlns:a="http://schemas.openxmlformats.org/drawingml/2006/main">
              <a:ext uri="{FF2B5EF4-FFF2-40B4-BE49-F238E27FC236}">
                <a16:creationId xmlns:a16="http://schemas.microsoft.com/office/drawing/2014/main" id="{335CF868-40AA-46E4-8281-898B43D2FA4C}"/>
              </a:ext>
            </a:extLst>
          </p:cNvPr>
          <p:cNvSpPr>
            <a:spLocks xmlns:a="http://schemas.openxmlformats.org/drawingml/2006/main" noGrp="1"/>
          </p:cNvSpPr>
          <p:nvPr/>
        </p:nvSpPr>
        <p:spPr>
          <a:xfrm xmlns:a="http://schemas.openxmlformats.org/drawingml/2006/main">
            <a:off x="4394200" y="2428875"/>
            <a:ext cx="34036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Lokaler Server</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Arbeitsspeicher</a:t>
            </a:r>
          </a:p>
        </p:txBody>
      </p:sp>
      <p:sp>
        <p:nvSpPr>
          <p:cNvPr id="5" name="">
            <a:extLst xmlns:a="http://schemas.openxmlformats.org/drawingml/2006/main">
              <a:ext uri="{FF2B5EF4-FFF2-40B4-BE49-F238E27FC236}">
                <a16:creationId xmlns:a16="http://schemas.microsoft.com/office/drawing/2014/main" id="{25FAA6ED-0DB9-4F95-AFA9-E426A9BBFD65}"/>
              </a:ext>
            </a:extLst>
          </p:cNvPr>
          <p:cNvSpPr>
            <a:spLocks xmlns:a="http://schemas.openxmlformats.org/drawingml/2006/main" noGrp="1"/>
          </p:cNvSpPr>
          <p:nvPr/>
        </p:nvSpPr>
        <p:spPr>
          <a:xfrm xmlns:a="http://schemas.openxmlformats.org/drawingml/2006/main">
            <a:off x="8178800" y="2428875"/>
            <a:ext cx="340360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OpenAI API</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HTTPS-Anmeldung</a:t>
            </a:r>
          </a:p>
        </p:txBody>
      </p:sp>
      <p:cxnSp>
        <p:nvCxnSpPr>
          <p:cNvPr id="15" name=""/>
          <p:cNvCxnSpPr>
            <a:stCxn xmlns:a="http://schemas.openxmlformats.org/drawingml/2006/main" id="3" idx="3"/>
            <a:endCxn xmlns:a="http://schemas.openxmlformats.org/drawingml/2006/main" id="4" idx="1"/>
          </p:cNvCxnSpPr>
          <p:nvPr/>
        </p:nvCxnSpPr>
        <p:spPr>
          <a:xfrm xmlns:a="http://schemas.openxmlformats.org/drawingml/2006/main">
            <a:off x="40132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6" name=""/>
          <p:cNvCxnSpPr>
            <a:stCxn xmlns:a="http://schemas.openxmlformats.org/drawingml/2006/main" id="4" idx="3"/>
            <a:endCxn xmlns:a="http://schemas.openxmlformats.org/drawingml/2006/main" id="5" idx="1"/>
          </p:cNvCxnSpPr>
          <p:nvPr/>
        </p:nvCxnSpPr>
        <p:spPr>
          <a:xfrm xmlns:a="http://schemas.openxmlformats.org/drawingml/2006/main">
            <a:off x="77978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8" name="">
            <a:extLst xmlns:a="http://schemas.openxmlformats.org/drawingml/2006/main">
              <a:ext uri="{FF2B5EF4-FFF2-40B4-BE49-F238E27FC236}">
                <a16:creationId xmlns:a16="http://schemas.microsoft.com/office/drawing/2014/main" id="{6C40FD1F-A5B7-4BD4-91D3-0B6EE39441CA}"/>
              </a:ext>
            </a:extLst>
          </p:cNvPr>
          <p:cNvSpPr>
            <a:spLocks xmlns:a="http://schemas.openxmlformats.org/drawingml/2006/main" noGrp="1"/>
          </p:cNvSpPr>
          <p:nvPr/>
        </p:nvSpPr>
        <p:spPr>
          <a:xfrm xmlns:a="http://schemas.openxmlformats.org/drawingml/2006/main">
            <a:off x="609600" y="16573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Der Browser speichert nur eine zufällige Sitzungskennung.</a:t>
            </a:r>
          </a:p>
        </p:txBody>
      </p:sp>
      <p:sp>
        <p:nvSpPr>
          <p:cNvPr id="9" name="">
            <a:extLst xmlns:a="http://schemas.openxmlformats.org/drawingml/2006/main">
              <a:ext uri="{FF2B5EF4-FFF2-40B4-BE49-F238E27FC236}">
                <a16:creationId xmlns:a16="http://schemas.microsoft.com/office/drawing/2014/main" id="{79D7788E-88A0-4289-8245-BEFD482CB599}"/>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Entfernen, Ablauf oder Serverneustart sperren weitere Aufrufe. Laufende Aufrufe können noch enden.</a:t>
            </a:r>
          </a:p>
        </p:txBody>
      </p:sp>
    </p:spTree>
    <p:extLst>
      <p:ext uri="{BB962C8B-B14F-4D97-AF65-F5344CB8AC3E}">
        <p14:creationId xmlns:p14="http://schemas.microsoft.com/office/powerpoint/2010/main" val="143230115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2D7A98-0DDC-4418-8AD4-1C0CEB9F225D}"/>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Wartung und Synchronisierung</a:t>
            </a:r>
          </a:p>
        </p:txBody>
      </p:sp>
      <p:sp>
        <p:nvSpPr>
          <p:cNvPr id="2" name="">
            <a:extLst xmlns:a="http://schemas.openxmlformats.org/drawingml/2006/main">
              <a:ext uri="{FF2B5EF4-FFF2-40B4-BE49-F238E27FC236}">
                <a16:creationId xmlns:a16="http://schemas.microsoft.com/office/drawing/2014/main" id="{89FCF04B-FC8A-4299-B80C-8D61DD4E3658}"/>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35</a:t>
            </a:r>
          </a:p>
        </p:txBody>
      </p:sp>
      <p:sp>
        <p:nvSpPr>
          <p:cNvPr id="3" name="">
            <a:extLst xmlns:a="http://schemas.openxmlformats.org/drawingml/2006/main">
              <a:ext uri="{FF2B5EF4-FFF2-40B4-BE49-F238E27FC236}">
                <a16:creationId xmlns:a16="http://schemas.microsoft.com/office/drawing/2014/main" id="{816DA4B6-7EE3-407E-B274-B406EE081E8C}"/>
              </a:ext>
            </a:extLst>
          </p:cNvPr>
          <p:cNvSpPr>
            <a:spLocks xmlns:a="http://schemas.openxmlformats.org/drawingml/2006/main" noGrp="1"/>
          </p:cNvSpPr>
          <p:nvPr/>
        </p:nvSpPr>
        <p:spPr>
          <a:xfrm xmlns:a="http://schemas.openxmlformats.org/drawingml/2006/main">
            <a:off x="6096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Änderung am</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Handbuch / Code</a:t>
            </a:r>
          </a:p>
        </p:txBody>
      </p:sp>
      <p:sp>
        <p:nvSpPr>
          <p:cNvPr id="4" name="">
            <a:extLst xmlns:a="http://schemas.openxmlformats.org/drawingml/2006/main">
              <a:ext uri="{FF2B5EF4-FFF2-40B4-BE49-F238E27FC236}">
                <a16:creationId xmlns:a16="http://schemas.microsoft.com/office/drawing/2014/main" id="{D80AE665-C9CF-44B3-8C0F-912109029BBF}"/>
              </a:ext>
            </a:extLst>
          </p:cNvPr>
          <p:cNvSpPr>
            <a:spLocks xmlns:a="http://schemas.openxmlformats.org/drawingml/2006/main" noGrp="1"/>
          </p:cNvSpPr>
          <p:nvPr/>
        </p:nvSpPr>
        <p:spPr>
          <a:xfrm xmlns:a="http://schemas.openxmlformats.org/drawingml/2006/main">
            <a:off x="34480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Tests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Retrieval-Messung</a:t>
            </a:r>
          </a:p>
        </p:txBody>
      </p:sp>
      <p:sp>
        <p:nvSpPr>
          <p:cNvPr id="5" name="">
            <a:extLst xmlns:a="http://schemas.openxmlformats.org/drawingml/2006/main">
              <a:ext uri="{FF2B5EF4-FFF2-40B4-BE49-F238E27FC236}">
                <a16:creationId xmlns:a16="http://schemas.microsoft.com/office/drawing/2014/main" id="{17B6DCE4-3E11-464C-9783-ACA7E74BA6D5}"/>
              </a:ext>
            </a:extLst>
          </p:cNvPr>
          <p:cNvSpPr>
            <a:spLocks xmlns:a="http://schemas.openxmlformats.org/drawingml/2006/main" noGrp="1"/>
          </p:cNvSpPr>
          <p:nvPr/>
        </p:nvSpPr>
        <p:spPr>
          <a:xfrm xmlns:a="http://schemas.openxmlformats.org/drawingml/2006/main">
            <a:off x="628650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Git-Commit und</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GitHub-Abgleich</a:t>
            </a:r>
          </a:p>
        </p:txBody>
      </p:sp>
      <p:sp>
        <p:nvSpPr>
          <p:cNvPr id="6" name="">
            <a:extLst xmlns:a="http://schemas.openxmlformats.org/drawingml/2006/main">
              <a:ext uri="{FF2B5EF4-FFF2-40B4-BE49-F238E27FC236}">
                <a16:creationId xmlns:a16="http://schemas.microsoft.com/office/drawing/2014/main" id="{133C09BC-FC87-4826-AD0A-9F3EAE7C404E}"/>
              </a:ext>
            </a:extLst>
          </p:cNvPr>
          <p:cNvSpPr>
            <a:spLocks xmlns:a="http://schemas.openxmlformats.org/drawingml/2006/main" noGrp="1"/>
          </p:cNvSpPr>
          <p:nvPr/>
        </p:nvSpPr>
        <p:spPr>
          <a:xfrm xmlns:a="http://schemas.openxmlformats.org/drawingml/2006/main">
            <a:off x="9124950" y="2428875"/>
            <a:ext cx="2457450" cy="1095375"/>
          </a:xfrm>
          <a:prstGeom xmlns:a="http://schemas.openxmlformats.org/drawingml/2006/main" prst="rect">
            <a:avLst/>
          </a:prstGeom>
          <a:solidFill xmlns:a="http://schemas.openxmlformats.org/drawingml/2006/main">
            <a:srgbClr val="EDF6F6"/>
          </a:solidFill>
          <a:ln xmlns:a="http://schemas.openxmlformats.org/drawingml/2006/main" w="14288">
            <a:solidFill>
              <a:srgbClr val="007B83"/>
            </a:solidFill>
          </a:ln>
        </p:spPr>
        <p:txBody>
          <a:bodyPr xmlns:a="http://schemas.openxmlformats.org/drawingml/2006/main" lIns="114300" tIns="95250" rIns="114300" bIns="95250" anchor="ctr">
            <a:noAutofit/>
          </a:bodyPr>
          <a:lstStyle xmlns:a="http://schemas.openxmlformats.org/drawingml/2006/main"/>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Mac aktualisieren</a:t>
            </a:r>
          </a:p>
          <a:p xmlns:a="http://schemas.openxmlformats.org/drawingml/2006/main">
            <a:pPr algn="ctr">
              <a:defRPr sz="1950" b="0">
                <a:solidFill>
                  <a:srgbClr val="152D3A"/>
                </a:solidFill>
                <a:latin typeface="Arial"/>
                <a:ea typeface="Arial"/>
                <a:cs typeface="Arial"/>
              </a:defRPr>
            </a:pPr>
            <a:r>
              <a:rPr sz="1950" b="0">
                <a:solidFill>
                  <a:srgbClr val="152D3A"/>
                </a:solidFill>
                <a:latin typeface="Arial"/>
                <a:ea typeface="Arial"/>
                <a:cs typeface="Arial"/>
              </a:rPr>
              <a:t>und prüfen</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0670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590550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8743950" y="2976563"/>
            <a:ext cx="381000" cy="0"/>
          </a:xfrm>
          <a:prstGeom xmlns:a="http://schemas.openxmlformats.org/drawingml/2006/main" prst="straightConnector1">
            <a:avLst/>
          </a:prstGeom>
          <a:ln xmlns:a="http://schemas.openxmlformats.org/drawingml/2006/main" w="19050">
            <a:solidFill>
              <a:srgbClr val="007B83"/>
            </a:solidFill>
            <a:tailEnd type="triangle" w="med" len="med"/>
          </a:ln>
        </p:spPr>
      </p:cxnSp>
      <p:sp>
        <p:nvSpPr>
          <p:cNvPr id="10" name="">
            <a:extLst xmlns:a="http://schemas.openxmlformats.org/drawingml/2006/main">
              <a:ext uri="{FF2B5EF4-FFF2-40B4-BE49-F238E27FC236}">
                <a16:creationId xmlns:a16="http://schemas.microsoft.com/office/drawing/2014/main" id="{0CA0AF6B-1358-4B54-9368-658A67EE5A95}"/>
              </a:ext>
            </a:extLst>
          </p:cNvPr>
          <p:cNvSpPr>
            <a:spLocks xmlns:a="http://schemas.openxmlformats.org/drawingml/2006/main" noGrp="1"/>
          </p:cNvSpPr>
          <p:nvPr/>
        </p:nvSpPr>
        <p:spPr>
          <a:xfrm xmlns:a="http://schemas.openxmlformats.org/drawingml/2006/main">
            <a:off x="609600" y="5705475"/>
            <a:ext cx="10801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566770"/>
                </a:solidFill>
                <a:latin typeface="Arial"/>
                <a:ea typeface="Arial"/>
                <a:cs typeface="Arial"/>
              </a:defRPr>
            </a:pPr>
            <a:r>
              <a:rPr sz="1725" b="0">
                <a:solidFill>
                  <a:srgbClr val="566770"/>
                </a:solidFill>
                <a:latin typeface="Arial"/>
                <a:ea typeface="Arial"/>
                <a:cs typeface="Arial"/>
              </a:rPr>
              <a:t>PPTX, Prüfbericht und Startanleitungen dokumentieren denselben Projektstand.</a:t>
            </a:r>
          </a:p>
        </p:txBody>
      </p:sp>
    </p:spTree>
    <p:extLst>
      <p:ext uri="{BB962C8B-B14F-4D97-AF65-F5344CB8AC3E}">
        <p14:creationId xmlns:p14="http://schemas.microsoft.com/office/powerpoint/2010/main" val="15734212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CE4970-6864-4D0D-A6BB-3B2D5FFB7497}"/>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Grenzen und nächste Ausbaustufen</a:t>
            </a:r>
          </a:p>
        </p:txBody>
      </p:sp>
      <p:sp>
        <p:nvSpPr>
          <p:cNvPr id="2" name="">
            <a:extLst xmlns:a="http://schemas.openxmlformats.org/drawingml/2006/main">
              <a:ext uri="{FF2B5EF4-FFF2-40B4-BE49-F238E27FC236}">
                <a16:creationId xmlns:a16="http://schemas.microsoft.com/office/drawing/2014/main" id="{895E93BB-C5C6-4A70-A839-9327DE2EB99E}"/>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36</a:t>
            </a:r>
          </a:p>
        </p:txBody>
      </p:sp>
      <p:sp>
        <p:nvSpPr>
          <p:cNvPr id="3" name="">
            <a:extLst xmlns:a="http://schemas.openxmlformats.org/drawingml/2006/main">
              <a:ext uri="{FF2B5EF4-FFF2-40B4-BE49-F238E27FC236}">
                <a16:creationId xmlns:a16="http://schemas.microsoft.com/office/drawing/2014/main" id="{1391A81D-5C16-45E3-813E-8D9C5BBACB53}"/>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Belegtreue</a:t>
            </a:r>
          </a:p>
        </p:txBody>
      </p:sp>
      <p:sp>
        <p:nvSpPr>
          <p:cNvPr id="4" name="">
            <a:extLst xmlns:a="http://schemas.openxmlformats.org/drawingml/2006/main">
              <a:ext uri="{FF2B5EF4-FFF2-40B4-BE49-F238E27FC236}">
                <a16:creationId xmlns:a16="http://schemas.microsoft.com/office/drawing/2014/main" id="{34A1D7E2-3862-4775-ADD6-3B154C72CFAB}"/>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Quellenanzeige allein garantiert keine durchgehend belegte Modellantwort.</a:t>
            </a:r>
          </a:p>
        </p:txBody>
      </p:sp>
      <p:sp>
        <p:nvSpPr>
          <p:cNvPr id="5" name="">
            <a:extLst xmlns:a="http://schemas.openxmlformats.org/drawingml/2006/main">
              <a:ext uri="{FF2B5EF4-FFF2-40B4-BE49-F238E27FC236}">
                <a16:creationId xmlns:a16="http://schemas.microsoft.com/office/drawing/2014/main" id="{8DC3DF8D-06CB-4F41-B11D-D0757FBE4E0B}"/>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PageIndex</a:t>
            </a:r>
          </a:p>
        </p:txBody>
      </p:sp>
      <p:sp>
        <p:nvSpPr>
          <p:cNvPr id="6" name="">
            <a:extLst xmlns:a="http://schemas.openxmlformats.org/drawingml/2006/main">
              <a:ext uri="{FF2B5EF4-FFF2-40B4-BE49-F238E27FC236}">
                <a16:creationId xmlns:a16="http://schemas.microsoft.com/office/drawing/2014/main" id="{B5F6CF88-E3EB-4A7F-A4A0-32220D21EC87}"/>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Die vereinfachte Batch-Auswahl ist experimentell und kann Text übersehen.</a:t>
            </a:r>
          </a:p>
        </p:txBody>
      </p:sp>
      <p:sp>
        <p:nvSpPr>
          <p:cNvPr id="7" name="">
            <a:extLst xmlns:a="http://schemas.openxmlformats.org/drawingml/2006/main">
              <a:ext uri="{FF2B5EF4-FFF2-40B4-BE49-F238E27FC236}">
                <a16:creationId xmlns:a16="http://schemas.microsoft.com/office/drawing/2014/main" id="{AE3ED18B-D7B6-44E3-B46D-354914571A9C}"/>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Mehr Dokumente</a:t>
            </a:r>
          </a:p>
        </p:txBody>
      </p:sp>
      <p:sp>
        <p:nvSpPr>
          <p:cNvPr id="8" name="">
            <a:extLst xmlns:a="http://schemas.openxmlformats.org/drawingml/2006/main">
              <a:ext uri="{FF2B5EF4-FFF2-40B4-BE49-F238E27FC236}">
                <a16:creationId xmlns:a16="http://schemas.microsoft.com/office/drawing/2014/main" id="{FB5BB2DE-29CA-4857-9163-C4DC7EF2209C}"/>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Gerätemodell, Version und Dokument-ID als Filter ergänzen.</a:t>
            </a:r>
          </a:p>
        </p:txBody>
      </p:sp>
      <p:sp>
        <p:nvSpPr>
          <p:cNvPr id="9" name="">
            <a:extLst xmlns:a="http://schemas.openxmlformats.org/drawingml/2006/main">
              <a:ext uri="{FF2B5EF4-FFF2-40B4-BE49-F238E27FC236}">
                <a16:creationId xmlns:a16="http://schemas.microsoft.com/office/drawing/2014/main" id="{B785C055-2E5F-4062-88E3-FD388F61815F}"/>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Produktiver Betrieb</a:t>
            </a:r>
          </a:p>
        </p:txBody>
      </p:sp>
      <p:sp>
        <p:nvSpPr>
          <p:cNvPr id="10" name="">
            <a:extLst xmlns:a="http://schemas.openxmlformats.org/drawingml/2006/main">
              <a:ext uri="{FF2B5EF4-FFF2-40B4-BE49-F238E27FC236}">
                <a16:creationId xmlns:a16="http://schemas.microsoft.com/office/drawing/2014/main" id="{A2E005EE-7B6A-4E3A-BDDA-78DA81421A42}"/>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Authentifizierung, Lastgrenzen und fachliche Freigabe gesondert vorsehen.</a:t>
            </a:r>
          </a:p>
        </p:txBody>
      </p:sp>
    </p:spTree>
    <p:extLst>
      <p:ext uri="{BB962C8B-B14F-4D97-AF65-F5344CB8AC3E}">
        <p14:creationId xmlns:p14="http://schemas.microsoft.com/office/powerpoint/2010/main" val="188601915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812E18-8F74-4699-9299-F377972A3DF3}"/>
              </a:ext>
            </a:extLst>
          </p:cNvPr>
          <p:cNvSpPr>
            <a:spLocks xmlns:a="http://schemas.openxmlformats.org/drawingml/2006/main" noGrp="1"/>
          </p:cNvSpPr>
          <p:nvPr/>
        </p:nvSpPr>
        <p:spPr>
          <a:xfrm xmlns:a="http://schemas.openxmlformats.org/drawingml/2006/main">
            <a:off x="609600" y="4095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D3A"/>
                </a:solidFill>
                <a:latin typeface="Arial"/>
                <a:ea typeface="Arial"/>
                <a:cs typeface="Arial"/>
              </a:defRPr>
            </a:pPr>
            <a:r>
              <a:rPr sz="3300" b="1">
                <a:solidFill>
                  <a:srgbClr val="152D3A"/>
                </a:solidFill>
                <a:latin typeface="Arial"/>
                <a:ea typeface="Arial"/>
                <a:cs typeface="Arial"/>
              </a:rPr>
              <a:t>Quellen und weiterführende Lektüre</a:t>
            </a:r>
          </a:p>
        </p:txBody>
      </p:sp>
      <p:sp>
        <p:nvSpPr>
          <p:cNvPr id="2" name="">
            <a:extLst xmlns:a="http://schemas.openxmlformats.org/drawingml/2006/main">
              <a:ext uri="{FF2B5EF4-FFF2-40B4-BE49-F238E27FC236}">
                <a16:creationId xmlns:a16="http://schemas.microsoft.com/office/drawing/2014/main" id="{D0F427EE-34CF-4DA6-AAAE-30CBD2BB3FD5}"/>
              </a:ext>
            </a:extLst>
          </p:cNvPr>
          <p:cNvSpPr>
            <a:spLocks xmlns:a="http://schemas.openxmlformats.org/drawingml/2006/main" noGrp="1"/>
          </p:cNvSpPr>
          <p:nvPr/>
        </p:nvSpPr>
        <p:spPr>
          <a:xfrm xmlns:a="http://schemas.openxmlformats.org/drawingml/2006/main">
            <a:off x="11144250" y="64293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0">
                <a:solidFill>
                  <a:srgbClr val="566770"/>
                </a:solidFill>
                <a:latin typeface="Arial"/>
                <a:ea typeface="Arial"/>
                <a:cs typeface="Arial"/>
              </a:defRPr>
            </a:pPr>
            <a:r>
              <a:rPr sz="1350" b="0">
                <a:solidFill>
                  <a:srgbClr val="566770"/>
                </a:solidFill>
                <a:latin typeface="Arial"/>
                <a:ea typeface="Arial"/>
                <a:cs typeface="Arial"/>
              </a:rPr>
              <a:t>37</a:t>
            </a:r>
          </a:p>
        </p:txBody>
      </p:sp>
      <p:sp>
        <p:nvSpPr>
          <p:cNvPr id="3" name="">
            <a:extLst xmlns:a="http://schemas.openxmlformats.org/drawingml/2006/main">
              <a:ext uri="{FF2B5EF4-FFF2-40B4-BE49-F238E27FC236}">
                <a16:creationId xmlns:a16="http://schemas.microsoft.com/office/drawing/2014/main" id="{30AA6F3A-DA1C-4790-BC38-9C1BFFBAD2A7}"/>
              </a:ext>
            </a:extLst>
          </p:cNvPr>
          <p:cNvSpPr>
            <a:spLocks xmlns:a="http://schemas.openxmlformats.org/drawingml/2006/main" noGrp="1"/>
          </p:cNvSpPr>
          <p:nvPr/>
        </p:nvSpPr>
        <p:spPr>
          <a:xfrm xmlns:a="http://schemas.openxmlformats.org/drawingml/2006/main">
            <a:off x="609600" y="1600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RAG-Grundlagen</a:t>
            </a:r>
          </a:p>
        </p:txBody>
      </p:sp>
      <p:sp>
        <p:nvSpPr>
          <p:cNvPr id="4" name="">
            <a:extLst xmlns:a="http://schemas.openxmlformats.org/drawingml/2006/main">
              <a:ext uri="{FF2B5EF4-FFF2-40B4-BE49-F238E27FC236}">
                <a16:creationId xmlns:a16="http://schemas.microsoft.com/office/drawing/2014/main" id="{FE112C75-67D2-4ED3-8E58-361A190923BE}"/>
              </a:ext>
            </a:extLst>
          </p:cNvPr>
          <p:cNvSpPr>
            <a:spLocks xmlns:a="http://schemas.openxmlformats.org/drawingml/2006/main" noGrp="1"/>
          </p:cNvSpPr>
          <p:nvPr/>
        </p:nvSpPr>
        <p:spPr>
          <a:xfrm xmlns:a="http://schemas.openxmlformats.org/drawingml/2006/main">
            <a:off x="3762375" y="1600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Lewis et al. (2020), Retrieval-Augmented Generation, arXiv:2005.11401.</a:t>
            </a:r>
          </a:p>
        </p:txBody>
      </p:sp>
      <p:sp>
        <p:nvSpPr>
          <p:cNvPr id="5" name="">
            <a:extLst xmlns:a="http://schemas.openxmlformats.org/drawingml/2006/main">
              <a:ext uri="{FF2B5EF4-FFF2-40B4-BE49-F238E27FC236}">
                <a16:creationId xmlns:a16="http://schemas.microsoft.com/office/drawing/2014/main" id="{EB7C9BCF-7AC5-4FE2-AA0E-0EF35A74F9B6}"/>
              </a:ext>
            </a:extLst>
          </p:cNvPr>
          <p:cNvSpPr>
            <a:spLocks xmlns:a="http://schemas.openxmlformats.org/drawingml/2006/main" noGrp="1"/>
          </p:cNvSpPr>
          <p:nvPr/>
        </p:nvSpPr>
        <p:spPr>
          <a:xfrm xmlns:a="http://schemas.openxmlformats.org/drawingml/2006/main">
            <a:off x="609600" y="2552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Modelle</a:t>
            </a:r>
          </a:p>
        </p:txBody>
      </p:sp>
      <p:sp>
        <p:nvSpPr>
          <p:cNvPr id="6" name="">
            <a:extLst xmlns:a="http://schemas.openxmlformats.org/drawingml/2006/main">
              <a:ext uri="{FF2B5EF4-FFF2-40B4-BE49-F238E27FC236}">
                <a16:creationId xmlns:a16="http://schemas.microsoft.com/office/drawing/2014/main" id="{551B1F5B-AAD7-4641-BDCE-46C50F7E2268}"/>
              </a:ext>
            </a:extLst>
          </p:cNvPr>
          <p:cNvSpPr>
            <a:spLocks xmlns:a="http://schemas.openxmlformats.org/drawingml/2006/main" noGrp="1"/>
          </p:cNvSpPr>
          <p:nvPr/>
        </p:nvSpPr>
        <p:spPr>
          <a:xfrm xmlns:a="http://schemas.openxmlformats.org/drawingml/2006/main">
            <a:off x="3762375" y="2552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Modellkarten: intfloat/multilingual-e5-small und BAAI/bge-reranker-v2-m3.</a:t>
            </a:r>
          </a:p>
        </p:txBody>
      </p:sp>
      <p:sp>
        <p:nvSpPr>
          <p:cNvPr id="7" name="">
            <a:extLst xmlns:a="http://schemas.openxmlformats.org/drawingml/2006/main">
              <a:ext uri="{FF2B5EF4-FFF2-40B4-BE49-F238E27FC236}">
                <a16:creationId xmlns:a16="http://schemas.microsoft.com/office/drawing/2014/main" id="{E744EF6B-5991-4867-AF0A-D133A3264429}"/>
              </a:ext>
            </a:extLst>
          </p:cNvPr>
          <p:cNvSpPr>
            <a:spLocks xmlns:a="http://schemas.openxmlformats.org/drawingml/2006/main" noGrp="1"/>
          </p:cNvSpPr>
          <p:nvPr/>
        </p:nvSpPr>
        <p:spPr>
          <a:xfrm xmlns:a="http://schemas.openxmlformats.org/drawingml/2006/main">
            <a:off x="609600" y="35052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Frameworks</a:t>
            </a:r>
          </a:p>
        </p:txBody>
      </p:sp>
      <p:sp>
        <p:nvSpPr>
          <p:cNvPr id="8" name="">
            <a:extLst xmlns:a="http://schemas.openxmlformats.org/drawingml/2006/main">
              <a:ext uri="{FF2B5EF4-FFF2-40B4-BE49-F238E27FC236}">
                <a16:creationId xmlns:a16="http://schemas.microsoft.com/office/drawing/2014/main" id="{749A5BA7-59F0-441D-A678-73EED482A33B}"/>
              </a:ext>
            </a:extLst>
          </p:cNvPr>
          <p:cNvSpPr>
            <a:spLocks xmlns:a="http://schemas.openxmlformats.org/drawingml/2006/main" noGrp="1"/>
          </p:cNvSpPr>
          <p:nvPr/>
        </p:nvSpPr>
        <p:spPr>
          <a:xfrm xmlns:a="http://schemas.openxmlformats.org/drawingml/2006/main">
            <a:off x="3762375" y="35052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Offizielle Dokumentation: LlamaIndex, Docling, LM Studio, OpenAI und PageIndex.</a:t>
            </a:r>
          </a:p>
        </p:txBody>
      </p:sp>
      <p:sp>
        <p:nvSpPr>
          <p:cNvPr id="9" name="">
            <a:extLst xmlns:a="http://schemas.openxmlformats.org/drawingml/2006/main">
              <a:ext uri="{FF2B5EF4-FFF2-40B4-BE49-F238E27FC236}">
                <a16:creationId xmlns:a16="http://schemas.microsoft.com/office/drawing/2014/main" id="{9ACF6DE9-7D98-4125-9A91-932BC8B2E942}"/>
              </a:ext>
            </a:extLst>
          </p:cNvPr>
          <p:cNvSpPr>
            <a:spLocks xmlns:a="http://schemas.openxmlformats.org/drawingml/2006/main" noGrp="1"/>
          </p:cNvSpPr>
          <p:nvPr/>
        </p:nvSpPr>
        <p:spPr>
          <a:xfrm xmlns:a="http://schemas.openxmlformats.org/drawingml/2006/main">
            <a:off x="609600" y="4457700"/>
            <a:ext cx="285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1">
                <a:solidFill>
                  <a:srgbClr val="007B83"/>
                </a:solidFill>
                <a:latin typeface="Arial"/>
                <a:ea typeface="Arial"/>
                <a:cs typeface="Arial"/>
              </a:defRPr>
            </a:pPr>
            <a:r>
              <a:rPr sz="2175" b="1">
                <a:solidFill>
                  <a:srgbClr val="007B83"/>
                </a:solidFill>
                <a:latin typeface="Arial"/>
                <a:ea typeface="Arial"/>
                <a:cs typeface="Arial"/>
              </a:rPr>
              <a:t>Projektbelege</a:t>
            </a:r>
          </a:p>
        </p:txBody>
      </p:sp>
      <p:sp>
        <p:nvSpPr>
          <p:cNvPr id="10" name="">
            <a:extLst xmlns:a="http://schemas.openxmlformats.org/drawingml/2006/main">
              <a:ext uri="{FF2B5EF4-FFF2-40B4-BE49-F238E27FC236}">
                <a16:creationId xmlns:a16="http://schemas.microsoft.com/office/drawing/2014/main" id="{CBE6F471-05A6-4CC1-A51A-5C33BF59C83A}"/>
              </a:ext>
            </a:extLst>
          </p:cNvPr>
          <p:cNvSpPr>
            <a:spLocks xmlns:a="http://schemas.openxmlformats.org/drawingml/2006/main" noGrp="1"/>
          </p:cNvSpPr>
          <p:nvPr/>
        </p:nvSpPr>
        <p:spPr>
          <a:xfrm xmlns:a="http://schemas.openxmlformats.org/drawingml/2006/main">
            <a:off x="3762375" y="4457700"/>
            <a:ext cx="752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D3A"/>
                </a:solidFill>
                <a:latin typeface="Arial"/>
                <a:ea typeface="Arial"/>
                <a:cs typeface="Arial"/>
              </a:defRPr>
            </a:pPr>
            <a:r>
              <a:rPr sz="2100" b="0">
                <a:solidFill>
                  <a:srgbClr val="152D3A"/>
                </a:solidFill>
                <a:latin typeface="Arial"/>
                <a:ea typeface="Arial"/>
                <a:cs typeface="Arial"/>
              </a:rPr>
              <a:t>Repository, Original-PDF Seite 33, docs/AUDIT.md und Eval-Protokolle.</a:t>
            </a:r>
          </a:p>
        </p:txBody>
      </p:sp>
    </p:spTree>
    <p:extLst>
      <p:ext uri="{BB962C8B-B14F-4D97-AF65-F5344CB8AC3E}">
        <p14:creationId xmlns:p14="http://schemas.microsoft.com/office/powerpoint/2010/main" val="1136180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2026-09-19T09:23:21.4450000Z</dcterms:created>
  <dcterms:modified xsi:type="dcterms:W3CDTF">2026-09-19T09:23:21.4450000Z</dcterms:modified>
</coreProperties>
</file>